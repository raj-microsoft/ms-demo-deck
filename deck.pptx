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Thanks for being here. I know "AI demo" probably triggers an involuntary eye roll at this point — so let me start by being direct about what the next 45 minutes are, and what they're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not selling you OpenClaw. I don't work for them. I'm showing you a pattern that's coming whether we're ready or not. AI agents that don't just write code — they deploy infrastructure, respond to incidents, optimize costs. OpenClaw is one example. Your customers will bring their own. The question is: are we ready to help them do it safely on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message of this entire session. Write it down if you want. AI agents are moving from code assistants to infrastructure operators. Azure is the platform that makes this safe and powerful. Everything I show you today ladders up to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Addy Osmani gave a great talk at O'Reilly last week about this. He describes the shift from being a conductor — where you guide a single AI in real time — to being an orchestrator, where you manage a team of agents working asynchronously. Most developers today are conductors. The best ones are becoming orchestrators. But here's what nobody's talking about yet: there's a level BEYOND orchestrating code agents. And that's orchestrating infrastructure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Steve Yegge laid out 8 levels of AI-assisted coding. Most developers are at level 3 or 4 — chat assistants and inline agents. GitHub Copilot absolutely dominates levels 3 through 5. It's the best tool there is for writing code with AI. But levels 6 through 8 — multi-agent orchestration, agent teams, full autonomy — that's a different game entirely. That's where agents stop writing code and start operating infrastructure. And that's where this conversation gets interesting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 infrastructure from a conversation. Respond to incidents autonomously. Optimize costs continuously. This is what agents at level 6 and above do. And this is exactly where OpenClaw sits — not trying to replace GitHub Copilot at writing code, but extending into territory Copilot doesn't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know you're thinking it. Some of you are already typing it in Teams. "Can't Copilot do all of this?" It's a fair question. Let me be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Copilot is your pair programmer. It's brilliant at that. I use it every day. But it can't deploy infrastructure from Telegram at 3 AM. It can't run cron jobs monitoring your Azure spend. It doesn't have memory between sessions. It doesn't operate your cloud — it writes code in your IDE. OpenClaw, or any autonomous agent, is the SRE that never sleeps. They're complementary. Use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OpenClaw specifically? Open-source autonomous agent. Self-hosted — runs on your machine or VM, uses your Azure credentials. Multi-channel — works from Telegram, Teams, Discord, WhatsApp. Authenticated access to Azure CLI, GitHub, Graph API. Has memory across sessions. Runs cron jobs proactively. Extensible with a skills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honest about what it's not. It's not enterprise-ready. It's not a Microsoft product. It's not trying to replace Copilot. And it's not magic — it hallucinates, it makes mistakes, it needs guardrails. But it's a pattern. A working proof of concept of what autonomous agents operating on Azure look like. And your customers? They're going to build their own versions. That's why this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Enough theory. Let me show you. I'm going to have a conversation with an AI agent and we're going to go from a customer request to a running app on Azure.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describes what they need in plain English. The agent immediately breaks it down into Azure services — App Service, SQL, Storage, B2C, Functions. No requirements doc. No three-week architecture review. Just a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generates a visual architecture. Customer sees their words turning into infrastructure. Six Azure services, wired together, from one paragraph of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Bicep. Specific to this customer's requirements — not a generic template. App Service on Linux, Node 20, app settings wired to the SQL server and storage account. The agent generates the full file — SQL, storage, monitoring,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group created. Bicep deployed. Six resources provisioned. Under 2 minutes. The customer can see each resource appearing in the Azure portal in real-time. This is the moment jaws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that sink in. A customer walked in with an idea. They described it. And before the coffee got cold, it's running in Azure. But building is only half the story. Let me show you what happens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is impressive. But your customers don't just build — they operate. They get woken up at 3 AM. Let me show you what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detected it, diagnosed it, and asked for permission. Two words from your phone: "Roll it back." Done. App healthy. Incident report generated. The entire war room is a chat thread. From your bed. This is what autonomous operations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€160K per year. Found in 12 minutes. Implemented in a single conversation. Not a PDF report that sits in someone's inbox. Actual changes, with guardrails, with the customer watching. This is FinOps on autopilot.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question every responsible engineer is thinking. "You're giving an AI agent access to production infrastructure? Are you insane?" Fair question. Let's be honest about the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not going to sugarcoat this. An agent can misinterpret commands. It can over-provision. It can access data it shouldn't. It can get stuck in loops and burn through your budget. These are real risks. But — and this is the key insight — Azure already has the governance stack to handle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IS in our control. Azure AD and RBAC for least privilege. Azure Policy — deny by default, the agent literally cannot create non-compliant resources. Resource Locks — CanNotDelete on anything important. Human approval gates for destructive operations. Full audit trail in Activity Log. And agent-level sandboxing. This is Azure's governance stack. It was built for humans. And it works even better for agents, because agents actually follow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honest about what we DON'T control yet. Hallucination in IaC — an agent can generate Bicep that compiles but provisions the wrong thing. Credential scope is still manual. There's no standard for agent-to-agent trust. Prompt injection is a real risk in shared surfaces. And Azure Budgets alert but don't hard-stop a runaway agent. These are open problems. Governance patterns are still forming. And that's exactly why your customers need you — to help them navigate this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line for your customer meetings. Humans skip steps, forget to tag resources, leave dev environments running. Agents don't. They follow RBAC to the letter. They respect policies. They log everything. Azure governance was designed for humans. Agents are actually better at following it. That's your Azure story for the agentic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One: agents are moving from code to infrastructure. This is happening now. Two: Azure is the platform that makes it safe — identity, policy, cost management, monitoring. Three: your customers will bring their own agents. They need you to help them do it right. The agent is replaceable. The platform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OpenClaw if you want to try the specific tool I demoed. Addy Osmani's article for the orchestration framework. Azure AI Agent Service for Microsoft's take. Copilot Studio for enterprise scenarios. And this deck is live on Azure Static Web Apps — feel free to share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slide I showed at the start. Same message. AI agents are moving from code assistants to infrastructure operators. Azure is the platform that makes this safe and powerful. Your customers will bring their own agents. Be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meeting should end with something running. Not a slide deck. Not a follow-up email. Something the customer can click, test, and show their boss. The agent framework will keep changing. But Azure is where it all runs. Thanks everyone.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914400"/>
            <a:ext cx="12192000" cy="320040"/>
          </a:xfrm>
          <a:prstGeom prst="rect">
            <a:avLst/>
          </a:prstGeom>
          <a:noFill/>
          <a:ln/>
        </p:spPr>
        <p:txBody>
          <a:bodyPr wrap="square" rtlCol="0" anchor="ctr"/>
          <a:lstStyle/>
          <a:p>
            <a:pPr algn="ctr" indent="0" marL="0">
              <a:buNone/>
            </a:pPr>
            <a:r>
              <a:rPr lang="en-US" sz="1000" b="1" dirty="0">
                <a:solidFill>
                  <a:srgbClr val="50A0E6"/>
                </a:solidFill>
                <a:latin typeface="Segoe UI" pitchFamily="34" charset="0"/>
                <a:ea typeface="Segoe UI" pitchFamily="34" charset="-122"/>
                <a:cs typeface="Segoe UI" pitchFamily="34" charset="-120"/>
              </a:rPr>
              <a:t>Microsoft Netherlands · Internal Session · 2026</a:t>
            </a:r>
            <a:endParaRPr lang="en-US" sz="1000" dirty="0"/>
          </a:p>
        </p:txBody>
      </p:sp>
      <p:sp>
        <p:nvSpPr>
          <p:cNvPr id="3" name="Text 1"/>
          <p:cNvSpPr/>
          <p:nvPr/>
        </p:nvSpPr>
        <p:spPr>
          <a:xfrm>
            <a:off x="731520" y="1463040"/>
            <a:ext cx="10725912" cy="2011680"/>
          </a:xfrm>
          <a:prstGeom prst="rect">
            <a:avLst/>
          </a:prstGeom>
          <a:noFill/>
          <a:ln/>
        </p:spPr>
        <p:txBody>
          <a:bodyPr wrap="square" rtlCol="0" anchor="ctr"/>
          <a:lstStyle/>
          <a:p>
            <a:pPr algn="ctr" indent="0" marL="0">
              <a:lnSpc>
                <a:spcPct val="110000"/>
              </a:lnSpc>
              <a:buNone/>
            </a:pPr>
            <a:r>
              <a:rPr lang="en-US" sz="4000" b="1" dirty="0">
                <a:solidFill>
                  <a:srgbClr val="FFFFFF"/>
                </a:solidFill>
                <a:latin typeface="Segoe UI" pitchFamily="34" charset="0"/>
                <a:ea typeface="Segoe UI" pitchFamily="34" charset="-122"/>
                <a:cs typeface="Segoe UI" pitchFamily="34" charset="-120"/>
              </a:rPr>
              <a:t>When </a:t>
            </a:r>
            <a:pPr algn="ctr" indent="0" marL="0">
              <a:lnSpc>
                <a:spcPct val="110000"/>
              </a:lnSpc>
              <a:buNone/>
            </a:pPr>
            <a:r>
              <a:rPr lang="en-US" sz="4000" b="1" dirty="0">
                <a:solidFill>
                  <a:srgbClr val="50A0E6"/>
                </a:solidFill>
                <a:latin typeface="Segoe UI" pitchFamily="34" charset="0"/>
                <a:ea typeface="Segoe UI" pitchFamily="34" charset="-122"/>
                <a:cs typeface="Segoe UI" pitchFamily="34" charset="-120"/>
              </a:rPr>
              <a:t>AI Agents</a:t>
            </a:r>
            <a:pPr algn="ctr" indent="0" marL="0">
              <a:lnSpc>
                <a:spcPct val="110000"/>
              </a:lnSpc>
              <a:buNone/>
            </a:pPr>
            <a:endParaRPr lang="en-US" sz="4000" dirty="0"/>
          </a:p>
          <a:p>
            <a:pPr algn="ctr" indent="0" marL="0">
              <a:lnSpc>
                <a:spcPct val="110000"/>
              </a:lnSpc>
              <a:buNone/>
            </a:pPr>
            <a:r>
              <a:rPr lang="en-US" sz="4000" b="1" dirty="0">
                <a:solidFill>
                  <a:srgbClr val="FFFFFF"/>
                </a:solidFill>
                <a:latin typeface="Segoe UI" pitchFamily="34" charset="0"/>
                <a:ea typeface="Segoe UI" pitchFamily="34" charset="-122"/>
                <a:cs typeface="Segoe UI" pitchFamily="34" charset="-120"/>
              </a:rPr>
              <a:t>Meet the Cloud</a:t>
            </a:r>
            <a:endParaRPr lang="en-US" sz="4000" dirty="0"/>
          </a:p>
        </p:txBody>
      </p:sp>
      <p:sp>
        <p:nvSpPr>
          <p:cNvPr id="4" name="Text 2"/>
          <p:cNvSpPr/>
          <p:nvPr/>
        </p:nvSpPr>
        <p:spPr>
          <a:xfrm>
            <a:off x="1828800" y="3566160"/>
            <a:ext cx="8531352" cy="914400"/>
          </a:xfrm>
          <a:prstGeom prst="rect">
            <a:avLst/>
          </a:prstGeom>
          <a:noFill/>
          <a:ln/>
        </p:spPr>
        <p:txBody>
          <a:bodyPr wrap="square" rtlCol="0" anchor="ctr"/>
          <a:lstStyle/>
          <a:p>
            <a:pPr algn="ctr" indent="0" marL="0">
              <a:lnSpc>
                <a:spcPct val="140000"/>
              </a:lnSpc>
              <a:buNone/>
            </a:pPr>
            <a:r>
              <a:rPr lang="en-US" sz="1600" dirty="0">
                <a:solidFill>
                  <a:srgbClr val="71717A"/>
                </a:solidFill>
                <a:latin typeface="Segoe UI" pitchFamily="34" charset="0"/>
                <a:ea typeface="Segoe UI" pitchFamily="34" charset="-122"/>
                <a:cs typeface="Segoe UI" pitchFamily="34" charset="-120"/>
              </a:rPr>
              <a:t>From code assistants to infrastructure operators.</a:t>
            </a:r>
            <a:endParaRPr lang="en-US" sz="1600" dirty="0"/>
          </a:p>
          <a:p>
            <a:pPr algn="ctr" indent="0" marL="0">
              <a:lnSpc>
                <a:spcPct val="140000"/>
              </a:lnSpc>
              <a:buNone/>
            </a:pPr>
            <a:r>
              <a:rPr lang="en-US" sz="1600" dirty="0">
                <a:solidFill>
                  <a:srgbClr val="71717A"/>
                </a:solidFill>
                <a:latin typeface="Segoe UI" pitchFamily="34" charset="0"/>
                <a:ea typeface="Segoe UI" pitchFamily="34" charset="-122"/>
                <a:cs typeface="Segoe UI" pitchFamily="34" charset="-120"/>
              </a:rPr>
              <a:t>What this means for Azure — and for your customers.</a:t>
            </a:r>
            <a:endParaRPr lang="en-US" sz="1600" dirty="0"/>
          </a:p>
        </p:txBody>
      </p:sp>
      <p:sp>
        <p:nvSpPr>
          <p:cNvPr id="5" name="Text 3"/>
          <p:cNvSpPr/>
          <p:nvPr/>
        </p:nvSpPr>
        <p:spPr>
          <a:xfrm>
            <a:off x="0" y="5029200"/>
            <a:ext cx="12192000" cy="365760"/>
          </a:xfrm>
          <a:prstGeom prst="rect">
            <a:avLst/>
          </a:prstGeom>
          <a:noFill/>
          <a:ln/>
        </p:spPr>
        <p:txBody>
          <a:bodyPr wrap="square" rtlCol="0" anchor="ctr"/>
          <a:lstStyle/>
          <a:p>
            <a:pPr algn="ctr" indent="0" marL="0">
              <a:buNone/>
            </a:pPr>
            <a:r>
              <a:rPr lang="en-US" sz="1000" dirty="0">
                <a:solidFill>
                  <a:srgbClr val="52525B"/>
                </a:solidFill>
                <a:latin typeface="Segoe UI" pitchFamily="34" charset="0"/>
                <a:ea typeface="Segoe UI" pitchFamily="34" charset="-122"/>
                <a:cs typeface="Segoe UI" pitchFamily="34" charset="-120"/>
              </a:rPr>
              <a:t>Raj Balakrishnan · Sr. Cloud Solution Architect · Western Europe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731520"/>
            <a:ext cx="12192000" cy="731520"/>
          </a:xfrm>
          <a:prstGeom prst="rect">
            <a:avLst/>
          </a:prstGeom>
          <a:noFill/>
          <a:ln/>
        </p:spPr>
        <p:txBody>
          <a:bodyPr wrap="square" rtlCol="0" anchor="ctr"/>
          <a:lstStyle/>
          <a:p>
            <a:pPr algn="ctr" indent="0" marL="0">
              <a:buNone/>
            </a:pPr>
            <a:r>
              <a:rPr lang="en-US" sz="3600" b="1" dirty="0">
                <a:solidFill>
                  <a:srgbClr val="FFFFFF"/>
                </a:solidFill>
                <a:latin typeface="Segoe UI" pitchFamily="34" charset="0"/>
                <a:ea typeface="Segoe UI" pitchFamily="34" charset="-122"/>
                <a:cs typeface="Segoe UI" pitchFamily="34" charset="-120"/>
              </a:rPr>
              <a:t>Before we start.</a:t>
            </a:r>
            <a:endParaRPr lang="en-US" sz="3600" dirty="0"/>
          </a:p>
        </p:txBody>
      </p:sp>
      <p:sp>
        <p:nvSpPr>
          <p:cNvPr id="3" name="Text 1"/>
          <p:cNvSpPr/>
          <p:nvPr/>
        </p:nvSpPr>
        <p:spPr>
          <a:xfrm>
            <a:off x="1828800" y="1737360"/>
            <a:ext cx="8531352" cy="822960"/>
          </a:xfrm>
          <a:prstGeom prst="rect">
            <a:avLst/>
          </a:prstGeom>
          <a:noFill/>
          <a:ln/>
        </p:spPr>
        <p:txBody>
          <a:bodyPr wrap="square" rtlCol="0" anchor="ctr"/>
          <a:lstStyle/>
          <a:p>
            <a:pPr algn="ctr" indent="0" marL="0">
              <a:lnSpc>
                <a:spcPct val="120000"/>
              </a:lnSpc>
              <a:buNone/>
            </a:pPr>
            <a:r>
              <a:rPr lang="en-US" sz="2000" b="1" dirty="0">
                <a:solidFill>
                  <a:srgbClr val="EF4444"/>
                </a:solidFill>
                <a:latin typeface="Segoe UI" pitchFamily="34" charset="0"/>
                <a:ea typeface="Segoe UI" pitchFamily="34" charset="-122"/>
                <a:cs typeface="Segoe UI" pitchFamily="34" charset="-120"/>
              </a:rPr>
              <a:t>✕  </a:t>
            </a:r>
            <a:pPr algn="ctr" indent="0" marL="0">
              <a:lnSpc>
                <a:spcPct val="120000"/>
              </a:lnSpc>
              <a:buNone/>
            </a:pPr>
            <a:r>
              <a:rPr lang="en-US" sz="1600" dirty="0">
                <a:solidFill>
                  <a:srgbClr val="FFFFFF"/>
                </a:solidFill>
                <a:latin typeface="Segoe UI" pitchFamily="34" charset="0"/>
                <a:ea typeface="Segoe UI" pitchFamily="34" charset="-122"/>
                <a:cs typeface="Segoe UI" pitchFamily="34" charset="-120"/>
              </a:rPr>
              <a:t>This is not a product pitch for OpenClaw</a:t>
            </a:r>
            <a:endParaRPr lang="en-US" sz="2000" dirty="0"/>
          </a:p>
        </p:txBody>
      </p:sp>
      <p:sp>
        <p:nvSpPr>
          <p:cNvPr id="4" name="Text 2"/>
          <p:cNvSpPr/>
          <p:nvPr/>
        </p:nvSpPr>
        <p:spPr>
          <a:xfrm>
            <a:off x="1828800" y="2651760"/>
            <a:ext cx="8531352" cy="822960"/>
          </a:xfrm>
          <a:prstGeom prst="rect">
            <a:avLst/>
          </a:prstGeom>
          <a:noFill/>
          <a:ln/>
        </p:spPr>
        <p:txBody>
          <a:bodyPr wrap="square" rtlCol="0" anchor="ctr"/>
          <a:lstStyle/>
          <a:p>
            <a:pPr algn="ctr" indent="0" marL="0">
              <a:lnSpc>
                <a:spcPct val="120000"/>
              </a:lnSpc>
              <a:buNone/>
            </a:pPr>
            <a:r>
              <a:rPr lang="en-US" sz="2000" b="1" dirty="0">
                <a:solidFill>
                  <a:srgbClr val="EF4444"/>
                </a:solidFill>
                <a:latin typeface="Segoe UI" pitchFamily="34" charset="0"/>
                <a:ea typeface="Segoe UI" pitchFamily="34" charset="-122"/>
                <a:cs typeface="Segoe UI" pitchFamily="34" charset="-120"/>
              </a:rPr>
              <a:t>✕  </a:t>
            </a:r>
            <a:pPr algn="ctr" indent="0" marL="0">
              <a:lnSpc>
                <a:spcPct val="120000"/>
              </a:lnSpc>
              <a:buNone/>
            </a:pPr>
            <a:r>
              <a:rPr lang="en-US" sz="1600" dirty="0">
                <a:solidFill>
                  <a:srgbClr val="FFFFFF"/>
                </a:solidFill>
                <a:latin typeface="Segoe UI" pitchFamily="34" charset="0"/>
                <a:ea typeface="Segoe UI" pitchFamily="34" charset="-122"/>
                <a:cs typeface="Segoe UI" pitchFamily="34" charset="-120"/>
              </a:rPr>
              <a:t>This is not "another AI demo"</a:t>
            </a:r>
            <a:endParaRPr lang="en-US" sz="2000" dirty="0"/>
          </a:p>
        </p:txBody>
      </p:sp>
      <p:sp>
        <p:nvSpPr>
          <p:cNvPr id="5" name="Text 3"/>
          <p:cNvSpPr/>
          <p:nvPr/>
        </p:nvSpPr>
        <p:spPr>
          <a:xfrm>
            <a:off x="1828800" y="3566160"/>
            <a:ext cx="8531352" cy="822960"/>
          </a:xfrm>
          <a:prstGeom prst="rect">
            <a:avLst/>
          </a:prstGeom>
          <a:noFill/>
          <a:ln/>
        </p:spPr>
        <p:txBody>
          <a:bodyPr wrap="square" rtlCol="0" anchor="ctr"/>
          <a:lstStyle/>
          <a:p>
            <a:pPr algn="ctr" indent="0" marL="0">
              <a:lnSpc>
                <a:spcPct val="120000"/>
              </a:lnSpc>
              <a:buNone/>
            </a:pPr>
            <a:r>
              <a:rPr lang="en-US" sz="2000" b="1" dirty="0">
                <a:solidFill>
                  <a:srgbClr val="10B981"/>
                </a:solidFill>
                <a:latin typeface="Segoe UI" pitchFamily="34" charset="0"/>
                <a:ea typeface="Segoe UI" pitchFamily="34" charset="-122"/>
                <a:cs typeface="Segoe UI" pitchFamily="34" charset="-120"/>
              </a:rPr>
              <a:t>✓  </a:t>
            </a:r>
            <a:pPr algn="ctr" indent="0" marL="0">
              <a:lnSpc>
                <a:spcPct val="120000"/>
              </a:lnSpc>
              <a:buNone/>
            </a:pPr>
            <a:r>
              <a:rPr lang="en-US" sz="1600" dirty="0">
                <a:solidFill>
                  <a:srgbClr val="FFFFFF"/>
                </a:solidFill>
                <a:latin typeface="Segoe UI" pitchFamily="34" charset="0"/>
                <a:ea typeface="Segoe UI" pitchFamily="34" charset="-122"/>
                <a:cs typeface="Segoe UI" pitchFamily="34" charset="-120"/>
              </a:rPr>
              <a:t>This is about a paradigm shift:</a:t>
            </a:r>
            <a:endParaRPr lang="en-US" sz="2000" dirty="0"/>
          </a:p>
          <a:p>
            <a:pPr algn="ctr" indent="0" marL="0">
              <a:lnSpc>
                <a:spcPct val="120000"/>
              </a:lnSpc>
              <a:buNone/>
            </a:pPr>
            <a:r>
              <a:rPr lang="en-US" sz="1600" dirty="0">
                <a:solidFill>
                  <a:srgbClr val="FFFFFF"/>
                </a:solidFill>
                <a:latin typeface="Segoe UI" pitchFamily="34" charset="0"/>
                <a:ea typeface="Segoe UI" pitchFamily="34" charset="-122"/>
                <a:cs typeface="Segoe UI" pitchFamily="34" charset="-120"/>
              </a:rPr>
              <a:t>agents that operate infrastructure, not just write code</a:t>
            </a:r>
            <a:endParaRPr lang="en-US" sz="2000" dirty="0"/>
          </a:p>
        </p:txBody>
      </p:sp>
      <p:sp>
        <p:nvSpPr>
          <p:cNvPr id="6" name="Text 4"/>
          <p:cNvSpPr/>
          <p:nvPr/>
        </p:nvSpPr>
        <p:spPr>
          <a:xfrm>
            <a:off x="1828800" y="4480560"/>
            <a:ext cx="8531352" cy="822960"/>
          </a:xfrm>
          <a:prstGeom prst="rect">
            <a:avLst/>
          </a:prstGeom>
          <a:noFill/>
          <a:ln/>
        </p:spPr>
        <p:txBody>
          <a:bodyPr wrap="square" rtlCol="0" anchor="ctr"/>
          <a:lstStyle/>
          <a:p>
            <a:pPr algn="ctr" indent="0" marL="0">
              <a:lnSpc>
                <a:spcPct val="120000"/>
              </a:lnSpc>
              <a:buNone/>
            </a:pPr>
            <a:r>
              <a:rPr lang="en-US" sz="2000" b="1" dirty="0">
                <a:solidFill>
                  <a:srgbClr val="10B981"/>
                </a:solidFill>
                <a:latin typeface="Segoe UI" pitchFamily="34" charset="0"/>
                <a:ea typeface="Segoe UI" pitchFamily="34" charset="-122"/>
                <a:cs typeface="Segoe UI" pitchFamily="34" charset="-120"/>
              </a:rPr>
              <a:t>✓  </a:t>
            </a:r>
            <a:pPr algn="ctr" indent="0" marL="0">
              <a:lnSpc>
                <a:spcPct val="120000"/>
              </a:lnSpc>
              <a:buNone/>
            </a:pPr>
            <a:r>
              <a:rPr lang="en-US" sz="1600" dirty="0">
                <a:solidFill>
                  <a:srgbClr val="FFFFFF"/>
                </a:solidFill>
                <a:latin typeface="Segoe UI" pitchFamily="34" charset="0"/>
                <a:ea typeface="Segoe UI" pitchFamily="34" charset="-122"/>
                <a:cs typeface="Segoe UI" pitchFamily="34" charset="-120"/>
              </a:rPr>
              <a:t>This is about why Azure is uniquely positioned</a:t>
            </a:r>
            <a:endParaRPr lang="en-US" sz="2000" dirty="0"/>
          </a:p>
          <a:p>
            <a:pPr algn="ctr" indent="0" marL="0">
              <a:lnSpc>
                <a:spcPct val="120000"/>
              </a:lnSpc>
              <a:buNone/>
            </a:pPr>
            <a:r>
              <a:rPr lang="en-US" sz="1600" dirty="0">
                <a:solidFill>
                  <a:srgbClr val="FFFFFF"/>
                </a:solidFill>
                <a:latin typeface="Segoe UI" pitchFamily="34" charset="0"/>
                <a:ea typeface="Segoe UI" pitchFamily="34" charset="-122"/>
                <a:cs typeface="Segoe UI" pitchFamily="34" charset="-120"/>
              </a:rPr>
              <a:t>for the agentic era</a:t>
            </a:r>
            <a:endParaRPr lang="en-US" sz="2000" dirty="0"/>
          </a:p>
        </p:txBody>
      </p:sp>
      <p:sp>
        <p:nvSpPr>
          <p:cNvPr id="7" name="Text 5"/>
          <p:cNvSpPr/>
          <p:nvPr/>
        </p:nvSpPr>
        <p:spPr>
          <a:xfrm>
            <a:off x="1371600" y="5303520"/>
            <a:ext cx="9445752" cy="731520"/>
          </a:xfrm>
          <a:prstGeom prst="rect">
            <a:avLst/>
          </a:prstGeom>
          <a:noFill/>
          <a:ln/>
        </p:spPr>
        <p:txBody>
          <a:bodyPr wrap="square" rtlCol="0" anchor="ctr"/>
          <a:lstStyle/>
          <a:p>
            <a:pPr algn="ctr" indent="0" marL="0">
              <a:buNone/>
            </a:pPr>
            <a:r>
              <a:rPr lang="en-US" sz="1100" i="1" dirty="0">
                <a:solidFill>
                  <a:srgbClr val="52525B"/>
                </a:solidFill>
                <a:latin typeface="Segoe UI" pitchFamily="34" charset="0"/>
                <a:ea typeface="Segoe UI" pitchFamily="34" charset="-122"/>
                <a:cs typeface="Segoe UI" pitchFamily="34" charset="-120"/>
              </a:rPr>
              <a:t>I'll use an open-source agent called OpenClaw as a demo vehicle.</a:t>
            </a:r>
            <a:endParaRPr lang="en-US" sz="1100" dirty="0"/>
          </a:p>
          <a:p>
            <a:pPr algn="ctr" indent="0" marL="0">
              <a:buNone/>
            </a:pPr>
            <a:r>
              <a:rPr lang="en-US" sz="1100" i="1" dirty="0">
                <a:solidFill>
                  <a:srgbClr val="52525B"/>
                </a:solidFill>
                <a:latin typeface="Segoe UI" pitchFamily="34" charset="0"/>
                <a:ea typeface="Segoe UI" pitchFamily="34" charset="-122"/>
                <a:cs typeface="Segoe UI" pitchFamily="34" charset="-120"/>
              </a:rPr>
              <a:t>But the patterns apply to any agent your customers bring to Azure.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1371600" y="1371600"/>
            <a:ext cx="9445752" cy="3200400"/>
          </a:xfrm>
          <a:prstGeom prst="rect">
            <a:avLst/>
          </a:prstGeom>
          <a:noFill/>
          <a:ln/>
        </p:spPr>
        <p:txBody>
          <a:bodyPr wrap="square" rtlCol="0" anchor="ctr"/>
          <a:lstStyle/>
          <a:p>
            <a:pPr algn="ctr" indent="0" marL="0">
              <a:lnSpc>
                <a:spcPct val="130000"/>
              </a:lnSpc>
              <a:buNone/>
            </a:pPr>
            <a:r>
              <a:rPr lang="en-US" sz="2400" i="1" dirty="0">
                <a:solidFill>
                  <a:srgbClr val="D4D4D8"/>
                </a:solidFill>
                <a:latin typeface="Segoe UI" pitchFamily="34" charset="0"/>
                <a:ea typeface="Segoe UI" pitchFamily="34" charset="-122"/>
                <a:cs typeface="Segoe UI" pitchFamily="34" charset="-120"/>
              </a:rPr>
              <a:t>"AI agents are moving from code assistants
to infrastructure operators.
</a:t>
            </a:r>
            <a:pPr algn="ctr" indent="0" marL="0">
              <a:lnSpc>
                <a:spcPct val="130000"/>
              </a:lnSpc>
              <a:buNone/>
            </a:pPr>
            <a:r>
              <a:rPr lang="en-US" sz="2400" i="1" dirty="0">
                <a:solidFill>
                  <a:srgbClr val="50A0E6"/>
                </a:solidFill>
                <a:latin typeface="Segoe UI" pitchFamily="34" charset="0"/>
                <a:ea typeface="Segoe UI" pitchFamily="34" charset="-122"/>
                <a:cs typeface="Segoe UI" pitchFamily="34" charset="-120"/>
              </a:rPr>
              <a:t>Azure is the platform that makes this</a:t>
            </a:r>
            <a:endParaRPr lang="en-US" sz="2400" dirty="0"/>
          </a:p>
          <a:p>
            <a:pPr algn="ctr" indent="0" marL="0">
              <a:lnSpc>
                <a:spcPct val="130000"/>
              </a:lnSpc>
              <a:buNone/>
            </a:pPr>
            <a:r>
              <a:rPr lang="en-US" sz="2400" i="1" dirty="0">
                <a:solidFill>
                  <a:srgbClr val="50A0E6"/>
                </a:solidFill>
                <a:latin typeface="Segoe UI" pitchFamily="34" charset="0"/>
                <a:ea typeface="Segoe UI" pitchFamily="34" charset="-122"/>
                <a:cs typeface="Segoe UI" pitchFamily="34" charset="-120"/>
              </a:rPr>
              <a:t>safe and powerful."</a:t>
            </a:r>
            <a:endParaRPr lang="en-US" sz="2400" dirty="0"/>
          </a:p>
        </p:txBody>
      </p:sp>
      <p:sp>
        <p:nvSpPr>
          <p:cNvPr id="3" name="Text 1"/>
          <p:cNvSpPr/>
          <p:nvPr/>
        </p:nvSpPr>
        <p:spPr>
          <a:xfrm>
            <a:off x="0" y="5029200"/>
            <a:ext cx="12192000" cy="365760"/>
          </a:xfrm>
          <a:prstGeom prst="rect">
            <a:avLst/>
          </a:prstGeom>
          <a:noFill/>
          <a:ln/>
        </p:spPr>
        <p:txBody>
          <a:bodyPr wrap="square" rtlCol="0" anchor="ctr"/>
          <a:lstStyle/>
          <a:p>
            <a:pPr algn="ctr" indent="0" marL="0">
              <a:buNone/>
            </a:pPr>
            <a:r>
              <a:rPr lang="en-US" sz="1200" dirty="0">
                <a:solidFill>
                  <a:srgbClr val="52525B"/>
                </a:solidFill>
                <a:latin typeface="Segoe UI" pitchFamily="34" charset="0"/>
                <a:ea typeface="Segoe UI" pitchFamily="34" charset="-122"/>
                <a:cs typeface="Segoe UI" pitchFamily="34" charset="-120"/>
              </a:rPr>
              <a:t>Remember this. I'll come back to 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457200"/>
            <a:ext cx="12192000" cy="320040"/>
          </a:xfrm>
          <a:prstGeom prst="rect">
            <a:avLst/>
          </a:prstGeom>
          <a:noFill/>
          <a:ln/>
        </p:spPr>
        <p:txBody>
          <a:bodyPr wrap="square" rtlCol="0" anchor="ctr"/>
          <a:lstStyle/>
          <a:p>
            <a:pPr algn="ctr" indent="0" marL="0">
              <a:buNone/>
            </a:pPr>
            <a:r>
              <a:rPr lang="en-US" sz="1100" b="1" dirty="0">
                <a:solidFill>
                  <a:srgbClr val="50A0E6"/>
                </a:solidFill>
                <a:latin typeface="Segoe UI" pitchFamily="34" charset="0"/>
                <a:ea typeface="Segoe UI" pitchFamily="34" charset="-122"/>
                <a:cs typeface="Segoe UI" pitchFamily="34" charset="-120"/>
              </a:rPr>
              <a:t>The Shift</a:t>
            </a:r>
            <a:endParaRPr lang="en-US" sz="1100" dirty="0"/>
          </a:p>
        </p:txBody>
      </p:sp>
      <p:sp>
        <p:nvSpPr>
          <p:cNvPr id="3" name="Text 1"/>
          <p:cNvSpPr/>
          <p:nvPr/>
        </p:nvSpPr>
        <p:spPr>
          <a:xfrm>
            <a:off x="0" y="822960"/>
            <a:ext cx="12192000" cy="731520"/>
          </a:xfrm>
          <a:prstGeom prst="rect">
            <a:avLst/>
          </a:prstGeom>
          <a:noFill/>
          <a:ln/>
        </p:spPr>
        <p:txBody>
          <a:bodyPr wrap="square" rtlCol="0" anchor="ctr"/>
          <a:lstStyle/>
          <a:p>
            <a:pPr algn="ctr" indent="0" marL="0">
              <a:buNone/>
            </a:pPr>
            <a:r>
              <a:rPr lang="en-US" sz="3200" b="1" dirty="0">
                <a:solidFill>
                  <a:srgbClr val="FFFFFF"/>
                </a:solidFill>
                <a:latin typeface="Segoe UI" pitchFamily="34" charset="0"/>
                <a:ea typeface="Segoe UI" pitchFamily="34" charset="-122"/>
                <a:cs typeface="Segoe UI" pitchFamily="34" charset="-120"/>
              </a:rPr>
              <a:t>From </a:t>
            </a:r>
            <a:pPr algn="ctr" indent="0" marL="0">
              <a:buNone/>
            </a:pPr>
            <a:r>
              <a:rPr lang="en-US" sz="3200" b="1" dirty="0">
                <a:solidFill>
                  <a:srgbClr val="50A0E6"/>
                </a:solidFill>
                <a:latin typeface="Segoe UI" pitchFamily="34" charset="0"/>
                <a:ea typeface="Segoe UI" pitchFamily="34" charset="-122"/>
                <a:cs typeface="Segoe UI" pitchFamily="34" charset="-120"/>
              </a:rPr>
              <a:t>conductor</a:t>
            </a:r>
            <a:pPr algn="ctr" indent="0" marL="0">
              <a:buNone/>
            </a:pPr>
            <a:r>
              <a:rPr lang="en-US" sz="3200" b="1" dirty="0">
                <a:solidFill>
                  <a:srgbClr val="FFFFFF"/>
                </a:solidFill>
                <a:latin typeface="Segoe UI" pitchFamily="34" charset="0"/>
                <a:ea typeface="Segoe UI" pitchFamily="34" charset="-122"/>
                <a:cs typeface="Segoe UI" pitchFamily="34" charset="-120"/>
              </a:rPr>
              <a:t> to </a:t>
            </a:r>
            <a:pPr algn="ctr" indent="0" marL="0">
              <a:buNone/>
            </a:pPr>
            <a:r>
              <a:rPr lang="en-US" sz="3200" b="1" dirty="0">
                <a:solidFill>
                  <a:srgbClr val="50A0E6"/>
                </a:solidFill>
                <a:latin typeface="Segoe UI" pitchFamily="34" charset="0"/>
                <a:ea typeface="Segoe UI" pitchFamily="34" charset="-122"/>
                <a:cs typeface="Segoe UI" pitchFamily="34" charset="-120"/>
              </a:rPr>
              <a:t>orchestrator</a:t>
            </a:r>
            <a:endParaRPr lang="en-US" sz="3200" dirty="0"/>
          </a:p>
        </p:txBody>
      </p:sp>
      <p:sp>
        <p:nvSpPr>
          <p:cNvPr id="4" name="Text 2"/>
          <p:cNvSpPr/>
          <p:nvPr/>
        </p:nvSpPr>
        <p:spPr>
          <a:xfrm>
            <a:off x="0" y="1554480"/>
            <a:ext cx="12192000" cy="457200"/>
          </a:xfrm>
          <a:prstGeom prst="rect">
            <a:avLst/>
          </a:prstGeom>
          <a:noFill/>
          <a:ln/>
        </p:spPr>
        <p:txBody>
          <a:bodyPr wrap="square" rtlCol="0" anchor="ctr"/>
          <a:lstStyle/>
          <a:p>
            <a:pPr algn="ctr" indent="0" marL="0">
              <a:buNone/>
            </a:pPr>
            <a:r>
              <a:rPr lang="en-US" sz="1400" dirty="0">
                <a:solidFill>
                  <a:srgbClr val="71717A"/>
                </a:solidFill>
                <a:latin typeface="Segoe UI" pitchFamily="34" charset="0"/>
                <a:ea typeface="Segoe UI" pitchFamily="34" charset="-122"/>
                <a:cs typeface="Segoe UI" pitchFamily="34" charset="-120"/>
              </a:rPr>
              <a:t>Addy Osmani's framework for how AI coding is evolving.</a:t>
            </a:r>
            <a:endParaRPr lang="en-US" sz="1400" dirty="0"/>
          </a:p>
        </p:txBody>
      </p:sp>
      <p:sp>
        <p:nvSpPr>
          <p:cNvPr id="5" name="Shape 3"/>
          <p:cNvSpPr/>
          <p:nvPr/>
        </p:nvSpPr>
        <p:spPr>
          <a:xfrm>
            <a:off x="1371600" y="2286000"/>
            <a:ext cx="4389120" cy="2560320"/>
          </a:xfrm>
          <a:prstGeom prst="roundRect">
            <a:avLst>
              <a:gd name="adj" fmla="val 5357"/>
            </a:avLst>
          </a:prstGeom>
          <a:solidFill>
            <a:srgbClr val="27272A">
              <a:alpha val="60000"/>
            </a:srgbClr>
          </a:solidFill>
          <a:ln w="12700">
            <a:solidFill>
              <a:srgbClr val="3F3F46"/>
            </a:solidFill>
            <a:prstDash val="solid"/>
          </a:ln>
        </p:spPr>
      </p:sp>
      <p:sp>
        <p:nvSpPr>
          <p:cNvPr id="6" name="Text 4"/>
          <p:cNvSpPr/>
          <p:nvPr/>
        </p:nvSpPr>
        <p:spPr>
          <a:xfrm>
            <a:off x="1554480" y="2377440"/>
            <a:ext cx="4023360" cy="45720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 Conductor</a:t>
            </a:r>
            <a:endParaRPr lang="en-US" sz="1600" dirty="0"/>
          </a:p>
        </p:txBody>
      </p:sp>
      <p:sp>
        <p:nvSpPr>
          <p:cNvPr id="7" name="Text 5"/>
          <p:cNvSpPr/>
          <p:nvPr/>
        </p:nvSpPr>
        <p:spPr>
          <a:xfrm>
            <a:off x="1554480" y="2926080"/>
            <a:ext cx="4023360" cy="1645920"/>
          </a:xfrm>
          <a:prstGeom prst="rect">
            <a:avLst/>
          </a:prstGeom>
          <a:noFill/>
          <a:ln/>
        </p:spPr>
        <p:txBody>
          <a:bodyPr wrap="square" rtlCol="0" anchor="ctr"/>
          <a:lstStyle/>
          <a:p>
            <a:pPr indent="0" marL="0">
              <a:lnSpc>
                <a:spcPct val="140000"/>
              </a:lnSpc>
              <a:buNone/>
            </a:pPr>
            <a:r>
              <a:rPr lang="en-US" sz="1200" dirty="0">
                <a:solidFill>
                  <a:srgbClr val="71717A"/>
                </a:solidFill>
                <a:latin typeface="Segoe UI" pitchFamily="34" charset="0"/>
                <a:ea typeface="Segoe UI" pitchFamily="34" charset="-122"/>
                <a:cs typeface="Segoe UI" pitchFamily="34" charset="-120"/>
              </a:rPr>
              <a:t>One agent, synchronous. You guide it line by line. Your context window is the ceiling. This is where most people are today.</a:t>
            </a:r>
            <a:endParaRPr lang="en-US" sz="1200" dirty="0"/>
          </a:p>
        </p:txBody>
      </p:sp>
      <p:sp>
        <p:nvSpPr>
          <p:cNvPr id="8" name="Shape 6"/>
          <p:cNvSpPr/>
          <p:nvPr/>
        </p:nvSpPr>
        <p:spPr>
          <a:xfrm>
            <a:off x="6400800" y="2286000"/>
            <a:ext cx="4389120" cy="2560320"/>
          </a:xfrm>
          <a:prstGeom prst="roundRect">
            <a:avLst>
              <a:gd name="adj" fmla="val 5357"/>
            </a:avLst>
          </a:prstGeom>
          <a:solidFill>
            <a:srgbClr val="27272A">
              <a:alpha val="60000"/>
            </a:srgbClr>
          </a:solidFill>
          <a:ln w="12700">
            <a:solidFill>
              <a:srgbClr val="0078D4"/>
            </a:solidFill>
            <a:prstDash val="solid"/>
          </a:ln>
        </p:spPr>
      </p:sp>
      <p:sp>
        <p:nvSpPr>
          <p:cNvPr id="9" name="Text 7"/>
          <p:cNvSpPr/>
          <p:nvPr/>
        </p:nvSpPr>
        <p:spPr>
          <a:xfrm>
            <a:off x="6583680" y="2377440"/>
            <a:ext cx="4023360" cy="457200"/>
          </a:xfrm>
          <a:prstGeom prst="rect">
            <a:avLst/>
          </a:prstGeom>
          <a:noFill/>
          <a:ln/>
        </p:spPr>
        <p:txBody>
          <a:bodyPr wrap="square" rtlCol="0" anchor="ctr"/>
          <a:lstStyle/>
          <a:p>
            <a:pPr indent="0" marL="0">
              <a:buNone/>
            </a:pPr>
            <a:r>
              <a:rPr lang="en-US" sz="1600" b="1" dirty="0">
                <a:solidFill>
                  <a:srgbClr val="50A0E6"/>
                </a:solidFill>
                <a:latin typeface="Segoe UI" pitchFamily="34" charset="0"/>
                <a:ea typeface="Segoe UI" pitchFamily="34" charset="-122"/>
                <a:cs typeface="Segoe UI" pitchFamily="34" charset="-120"/>
              </a:rPr>
              <a:t>🎼 Orchestrator</a:t>
            </a:r>
            <a:endParaRPr lang="en-US" sz="1600" dirty="0"/>
          </a:p>
        </p:txBody>
      </p:sp>
      <p:sp>
        <p:nvSpPr>
          <p:cNvPr id="10" name="Text 8"/>
          <p:cNvSpPr/>
          <p:nvPr/>
        </p:nvSpPr>
        <p:spPr>
          <a:xfrm>
            <a:off x="6583680" y="2926080"/>
            <a:ext cx="4023360" cy="1645920"/>
          </a:xfrm>
          <a:prstGeom prst="rect">
            <a:avLst/>
          </a:prstGeom>
          <a:noFill/>
          <a:ln/>
        </p:spPr>
        <p:txBody>
          <a:bodyPr wrap="square" rtlCol="0" anchor="ctr"/>
          <a:lstStyle/>
          <a:p>
            <a:pPr indent="0" marL="0">
              <a:lnSpc>
                <a:spcPct val="140000"/>
              </a:lnSpc>
              <a:buNone/>
            </a:pPr>
            <a:r>
              <a:rPr lang="en-US" sz="1200" dirty="0">
                <a:solidFill>
                  <a:srgbClr val="71717A"/>
                </a:solidFill>
                <a:latin typeface="Segoe UI" pitchFamily="34" charset="0"/>
                <a:ea typeface="Segoe UI" pitchFamily="34" charset="-122"/>
                <a:cs typeface="Segoe UI" pitchFamily="34" charset="-120"/>
              </a:rPr>
              <a:t>Multiple agents, asynchronous. You plan and verify. Each agent has its own context, scope, responsibility. The codebase is your canvas.</a:t>
            </a:r>
            <a:endParaRPr lang="en-US" sz="1200" dirty="0"/>
          </a:p>
        </p:txBody>
      </p:sp>
      <p:sp>
        <p:nvSpPr>
          <p:cNvPr id="11" name="Text 9"/>
          <p:cNvSpPr/>
          <p:nvPr/>
        </p:nvSpPr>
        <p:spPr>
          <a:xfrm>
            <a:off x="0" y="5303520"/>
            <a:ext cx="12192000" cy="365760"/>
          </a:xfrm>
          <a:prstGeom prst="rect">
            <a:avLst/>
          </a:prstGeom>
          <a:noFill/>
          <a:ln/>
        </p:spPr>
        <p:txBody>
          <a:bodyPr wrap="square" rtlCol="0" anchor="ctr"/>
          <a:lstStyle/>
          <a:p>
            <a:pPr algn="ctr" indent="0" marL="0">
              <a:buNone/>
            </a:pPr>
            <a:r>
              <a:rPr lang="en-US" sz="900" dirty="0">
                <a:solidFill>
                  <a:srgbClr val="52525B"/>
                </a:solidFill>
                <a:latin typeface="Segoe UI" pitchFamily="34" charset="0"/>
                <a:ea typeface="Segoe UI" pitchFamily="34" charset="-122"/>
                <a:cs typeface="Segoe UI" pitchFamily="34" charset="-120"/>
              </a:rPr>
              <a:t>Source: Addy Osmani — "The Code Agent Orchestra" (O'Reilly AI CodeCon, March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365760"/>
            <a:ext cx="12192000" cy="640080"/>
          </a:xfrm>
          <a:prstGeom prst="rect">
            <a:avLst/>
          </a:prstGeom>
          <a:noFill/>
          <a:ln/>
        </p:spPr>
        <p:txBody>
          <a:bodyPr wrap="square"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Steve Yegge's </a:t>
            </a:r>
            <a:pPr algn="ctr" indent="0" marL="0">
              <a:buNone/>
            </a:pPr>
            <a:r>
              <a:rPr lang="en-US" sz="2400" b="1" dirty="0">
                <a:solidFill>
                  <a:srgbClr val="50A0E6"/>
                </a:solidFill>
                <a:latin typeface="Segoe UI" pitchFamily="34" charset="0"/>
                <a:ea typeface="Segoe UI" pitchFamily="34" charset="-122"/>
                <a:cs typeface="Segoe UI" pitchFamily="34" charset="-120"/>
              </a:rPr>
              <a:t>8 Levels</a:t>
            </a:r>
            <a:pPr algn="ctr" indent="0" marL="0">
              <a:buNone/>
            </a:pPr>
            <a:r>
              <a:rPr lang="en-US" sz="2400" b="1" dirty="0">
                <a:solidFill>
                  <a:srgbClr val="FFFFFF"/>
                </a:solidFill>
                <a:latin typeface="Segoe UI" pitchFamily="34" charset="0"/>
                <a:ea typeface="Segoe UI" pitchFamily="34" charset="-122"/>
                <a:cs typeface="Segoe UI" pitchFamily="34" charset="-120"/>
              </a:rPr>
              <a:t> of AI-Assisted Coding</a:t>
            </a:r>
            <a:endParaRPr lang="en-US" sz="2400" dirty="0"/>
          </a:p>
        </p:txBody>
      </p:sp>
      <p:sp>
        <p:nvSpPr>
          <p:cNvPr id="3" name="Text 1"/>
          <p:cNvSpPr/>
          <p:nvPr/>
        </p:nvSpPr>
        <p:spPr>
          <a:xfrm>
            <a:off x="914400" y="1188720"/>
            <a:ext cx="365760" cy="457200"/>
          </a:xfrm>
          <a:prstGeom prst="rect">
            <a:avLst/>
          </a:prstGeom>
          <a:noFill/>
          <a:ln/>
        </p:spPr>
        <p:txBody>
          <a:bodyPr wrap="square" rtlCol="0" anchor="ctr"/>
          <a:lstStyle/>
          <a:p>
            <a:pPr algn="r" indent="0" marL="0">
              <a:buNone/>
            </a:pPr>
            <a:r>
              <a:rPr lang="en-US" sz="1100" b="1" dirty="0">
                <a:solidFill>
                  <a:srgbClr val="52525B"/>
                </a:solidFill>
                <a:latin typeface="Segoe UI" pitchFamily="34" charset="0"/>
                <a:ea typeface="Segoe UI" pitchFamily="34" charset="-122"/>
                <a:cs typeface="Segoe UI" pitchFamily="34" charset="-120"/>
              </a:rPr>
              <a:t>1</a:t>
            </a:r>
            <a:endParaRPr lang="en-US" sz="1100" dirty="0"/>
          </a:p>
        </p:txBody>
      </p:sp>
      <p:sp>
        <p:nvSpPr>
          <p:cNvPr id="4" name="Text 2"/>
          <p:cNvSpPr/>
          <p:nvPr/>
        </p:nvSpPr>
        <p:spPr>
          <a:xfrm>
            <a:off x="1371600" y="1188720"/>
            <a:ext cx="1828800" cy="457200"/>
          </a:xfrm>
          <a:prstGeom prst="rect">
            <a:avLst/>
          </a:prstGeom>
          <a:noFill/>
          <a:ln/>
        </p:spPr>
        <p:txBody>
          <a:bodyPr wrap="square" rtlCol="0" anchor="ctr"/>
          <a:lstStyle/>
          <a:p>
            <a:pPr algn="r" indent="0" marL="0">
              <a:buNone/>
            </a:pPr>
            <a:r>
              <a:rPr lang="en-US" sz="1100" dirty="0">
                <a:solidFill>
                  <a:srgbClr val="71717A"/>
                </a:solidFill>
                <a:latin typeface="Segoe UI" pitchFamily="34" charset="0"/>
                <a:ea typeface="Segoe UI" pitchFamily="34" charset="-122"/>
                <a:cs typeface="Segoe UI" pitchFamily="34" charset="-120"/>
              </a:rPr>
              <a:t>No AI</a:t>
            </a:r>
            <a:endParaRPr lang="en-US" sz="1100" dirty="0"/>
          </a:p>
        </p:txBody>
      </p:sp>
      <p:sp>
        <p:nvSpPr>
          <p:cNvPr id="5" name="Shape 3"/>
          <p:cNvSpPr/>
          <p:nvPr/>
        </p:nvSpPr>
        <p:spPr>
          <a:xfrm>
            <a:off x="3383280" y="1234440"/>
            <a:ext cx="457200" cy="365760"/>
          </a:xfrm>
          <a:prstGeom prst="roundRect">
            <a:avLst>
              <a:gd name="adj" fmla="val 12500"/>
            </a:avLst>
          </a:prstGeom>
          <a:solidFill>
            <a:srgbClr val="3F3F46"/>
          </a:solidFill>
          <a:ln/>
        </p:spPr>
      </p:sp>
      <p:sp>
        <p:nvSpPr>
          <p:cNvPr id="6" name="Text 4"/>
          <p:cNvSpPr/>
          <p:nvPr/>
        </p:nvSpPr>
        <p:spPr>
          <a:xfrm>
            <a:off x="3474720" y="1188720"/>
            <a:ext cx="365760" cy="457200"/>
          </a:xfrm>
          <a:prstGeom prst="rect">
            <a:avLst/>
          </a:prstGeom>
          <a:noFill/>
          <a:ln/>
        </p:spPr>
        <p:txBody>
          <a:bodyPr wrap="square"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a:t>
            </a:r>
            <a:endParaRPr lang="en-US" sz="900" dirty="0"/>
          </a:p>
        </p:txBody>
      </p:sp>
      <p:sp>
        <p:nvSpPr>
          <p:cNvPr id="7" name="Text 5"/>
          <p:cNvSpPr/>
          <p:nvPr/>
        </p:nvSpPr>
        <p:spPr>
          <a:xfrm>
            <a:off x="914400" y="1783080"/>
            <a:ext cx="365760" cy="457200"/>
          </a:xfrm>
          <a:prstGeom prst="rect">
            <a:avLst/>
          </a:prstGeom>
          <a:noFill/>
          <a:ln/>
        </p:spPr>
        <p:txBody>
          <a:bodyPr wrap="square" rtlCol="0" anchor="ctr"/>
          <a:lstStyle/>
          <a:p>
            <a:pPr algn="r" indent="0" marL="0">
              <a:buNone/>
            </a:pPr>
            <a:r>
              <a:rPr lang="en-US" sz="1100" b="1" dirty="0">
                <a:solidFill>
                  <a:srgbClr val="52525B"/>
                </a:solidFill>
                <a:latin typeface="Segoe UI" pitchFamily="34" charset="0"/>
                <a:ea typeface="Segoe UI" pitchFamily="34" charset="-122"/>
                <a:cs typeface="Segoe UI" pitchFamily="34" charset="-120"/>
              </a:rPr>
              <a:t>2</a:t>
            </a:r>
            <a:endParaRPr lang="en-US" sz="1100" dirty="0"/>
          </a:p>
        </p:txBody>
      </p:sp>
      <p:sp>
        <p:nvSpPr>
          <p:cNvPr id="8" name="Text 6"/>
          <p:cNvSpPr/>
          <p:nvPr/>
        </p:nvSpPr>
        <p:spPr>
          <a:xfrm>
            <a:off x="1371600" y="1783080"/>
            <a:ext cx="1828800" cy="457200"/>
          </a:xfrm>
          <a:prstGeom prst="rect">
            <a:avLst/>
          </a:prstGeom>
          <a:noFill/>
          <a:ln/>
        </p:spPr>
        <p:txBody>
          <a:bodyPr wrap="square" rtlCol="0" anchor="ctr"/>
          <a:lstStyle/>
          <a:p>
            <a:pPr algn="r" indent="0" marL="0">
              <a:buNone/>
            </a:pPr>
            <a:r>
              <a:rPr lang="en-US" sz="1100" dirty="0">
                <a:solidFill>
                  <a:srgbClr val="71717A"/>
                </a:solidFill>
                <a:latin typeface="Segoe UI" pitchFamily="34" charset="0"/>
                <a:ea typeface="Segoe UI" pitchFamily="34" charset="-122"/>
                <a:cs typeface="Segoe UI" pitchFamily="34" charset="-120"/>
              </a:rPr>
              <a:t>Autocomplete</a:t>
            </a:r>
            <a:endParaRPr lang="en-US" sz="1100" dirty="0"/>
          </a:p>
        </p:txBody>
      </p:sp>
      <p:sp>
        <p:nvSpPr>
          <p:cNvPr id="9" name="Shape 7"/>
          <p:cNvSpPr/>
          <p:nvPr/>
        </p:nvSpPr>
        <p:spPr>
          <a:xfrm>
            <a:off x="3383280" y="1828800"/>
            <a:ext cx="914400" cy="365760"/>
          </a:xfrm>
          <a:prstGeom prst="roundRect">
            <a:avLst>
              <a:gd name="adj" fmla="val 12500"/>
            </a:avLst>
          </a:prstGeom>
          <a:solidFill>
            <a:srgbClr val="3F3F46"/>
          </a:solidFill>
          <a:ln/>
        </p:spPr>
      </p:sp>
      <p:sp>
        <p:nvSpPr>
          <p:cNvPr id="10" name="Text 8"/>
          <p:cNvSpPr/>
          <p:nvPr/>
        </p:nvSpPr>
        <p:spPr>
          <a:xfrm>
            <a:off x="3474720" y="1783080"/>
            <a:ext cx="822960" cy="457200"/>
          </a:xfrm>
          <a:prstGeom prst="rect">
            <a:avLst/>
          </a:prstGeom>
          <a:noFill/>
          <a:ln/>
        </p:spPr>
        <p:txBody>
          <a:bodyPr wrap="square"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Tab-tab-tab</a:t>
            </a:r>
            <a:endParaRPr lang="en-US" sz="900" dirty="0"/>
          </a:p>
        </p:txBody>
      </p:sp>
      <p:sp>
        <p:nvSpPr>
          <p:cNvPr id="11" name="Text 9"/>
          <p:cNvSpPr/>
          <p:nvPr/>
        </p:nvSpPr>
        <p:spPr>
          <a:xfrm>
            <a:off x="914400" y="2377440"/>
            <a:ext cx="365760" cy="457200"/>
          </a:xfrm>
          <a:prstGeom prst="rect">
            <a:avLst/>
          </a:prstGeom>
          <a:noFill/>
          <a:ln/>
        </p:spPr>
        <p:txBody>
          <a:bodyPr wrap="square" rtlCol="0" anchor="ctr"/>
          <a:lstStyle/>
          <a:p>
            <a:pPr algn="r" indent="0" marL="0">
              <a:buNone/>
            </a:pPr>
            <a:r>
              <a:rPr lang="en-US" sz="1100" b="1" dirty="0">
                <a:solidFill>
                  <a:srgbClr val="52525B"/>
                </a:solidFill>
                <a:latin typeface="Segoe UI" pitchFamily="34" charset="0"/>
                <a:ea typeface="Segoe UI" pitchFamily="34" charset="-122"/>
                <a:cs typeface="Segoe UI" pitchFamily="34" charset="-120"/>
              </a:rPr>
              <a:t>3</a:t>
            </a:r>
            <a:endParaRPr lang="en-US" sz="1100" dirty="0"/>
          </a:p>
        </p:txBody>
      </p:sp>
      <p:sp>
        <p:nvSpPr>
          <p:cNvPr id="12" name="Text 10"/>
          <p:cNvSpPr/>
          <p:nvPr/>
        </p:nvSpPr>
        <p:spPr>
          <a:xfrm>
            <a:off x="1371600" y="2377440"/>
            <a:ext cx="1828800" cy="457200"/>
          </a:xfrm>
          <a:prstGeom prst="rect">
            <a:avLst/>
          </a:prstGeom>
          <a:noFill/>
          <a:ln/>
        </p:spPr>
        <p:txBody>
          <a:bodyPr wrap="square" rtlCol="0" anchor="ctr"/>
          <a:lstStyle/>
          <a:p>
            <a:pPr algn="r" indent="0" marL="0">
              <a:buNone/>
            </a:pPr>
            <a:r>
              <a:rPr lang="en-US" sz="1100" dirty="0">
                <a:solidFill>
                  <a:srgbClr val="71717A"/>
                </a:solidFill>
                <a:latin typeface="Segoe UI" pitchFamily="34" charset="0"/>
                <a:ea typeface="Segoe UI" pitchFamily="34" charset="-122"/>
                <a:cs typeface="Segoe UI" pitchFamily="34" charset="-120"/>
              </a:rPr>
              <a:t>Chat assistant</a:t>
            </a:r>
            <a:endParaRPr lang="en-US" sz="1100" dirty="0"/>
          </a:p>
        </p:txBody>
      </p:sp>
      <p:sp>
        <p:nvSpPr>
          <p:cNvPr id="13" name="Shape 11"/>
          <p:cNvSpPr/>
          <p:nvPr/>
        </p:nvSpPr>
        <p:spPr>
          <a:xfrm>
            <a:off x="3383280" y="2423160"/>
            <a:ext cx="1645920" cy="365760"/>
          </a:xfrm>
          <a:prstGeom prst="roundRect">
            <a:avLst>
              <a:gd name="adj" fmla="val 12500"/>
            </a:avLst>
          </a:prstGeom>
          <a:solidFill>
            <a:srgbClr val="4A3A10"/>
          </a:solidFill>
          <a:ln/>
        </p:spPr>
      </p:sp>
      <p:sp>
        <p:nvSpPr>
          <p:cNvPr id="14" name="Text 12"/>
          <p:cNvSpPr/>
          <p:nvPr/>
        </p:nvSpPr>
        <p:spPr>
          <a:xfrm>
            <a:off x="3474720" y="2377440"/>
            <a:ext cx="1554480" cy="457200"/>
          </a:xfrm>
          <a:prstGeom prst="rect">
            <a:avLst/>
          </a:prstGeom>
          <a:noFill/>
          <a:ln/>
        </p:spPr>
        <p:txBody>
          <a:bodyPr wrap="square"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 Most people</a:t>
            </a:r>
            <a:endParaRPr lang="en-US" sz="900" dirty="0"/>
          </a:p>
        </p:txBody>
      </p:sp>
      <p:sp>
        <p:nvSpPr>
          <p:cNvPr id="15" name="Text 13"/>
          <p:cNvSpPr/>
          <p:nvPr/>
        </p:nvSpPr>
        <p:spPr>
          <a:xfrm>
            <a:off x="914400" y="2971800"/>
            <a:ext cx="365760" cy="457200"/>
          </a:xfrm>
          <a:prstGeom prst="rect">
            <a:avLst/>
          </a:prstGeom>
          <a:noFill/>
          <a:ln/>
        </p:spPr>
        <p:txBody>
          <a:bodyPr wrap="square" rtlCol="0" anchor="ctr"/>
          <a:lstStyle/>
          <a:p>
            <a:pPr algn="r" indent="0" marL="0">
              <a:buNone/>
            </a:pPr>
            <a:r>
              <a:rPr lang="en-US" sz="1100" b="1" dirty="0">
                <a:solidFill>
                  <a:srgbClr val="52525B"/>
                </a:solidFill>
                <a:latin typeface="Segoe UI" pitchFamily="34" charset="0"/>
                <a:ea typeface="Segoe UI" pitchFamily="34" charset="-122"/>
                <a:cs typeface="Segoe UI" pitchFamily="34" charset="-120"/>
              </a:rPr>
              <a:t>4</a:t>
            </a:r>
            <a:endParaRPr lang="en-US" sz="1100" dirty="0"/>
          </a:p>
        </p:txBody>
      </p:sp>
      <p:sp>
        <p:nvSpPr>
          <p:cNvPr id="16" name="Text 14"/>
          <p:cNvSpPr/>
          <p:nvPr/>
        </p:nvSpPr>
        <p:spPr>
          <a:xfrm>
            <a:off x="1371600" y="2971800"/>
            <a:ext cx="1828800" cy="457200"/>
          </a:xfrm>
          <a:prstGeom prst="rect">
            <a:avLst/>
          </a:prstGeom>
          <a:noFill/>
          <a:ln/>
        </p:spPr>
        <p:txBody>
          <a:bodyPr wrap="square" rtlCol="0" anchor="ctr"/>
          <a:lstStyle/>
          <a:p>
            <a:pPr algn="r" indent="0" marL="0">
              <a:buNone/>
            </a:pPr>
            <a:r>
              <a:rPr lang="en-US" sz="1100" dirty="0">
                <a:solidFill>
                  <a:srgbClr val="71717A"/>
                </a:solidFill>
                <a:latin typeface="Segoe UI" pitchFamily="34" charset="0"/>
                <a:ea typeface="Segoe UI" pitchFamily="34" charset="-122"/>
                <a:cs typeface="Segoe UI" pitchFamily="34" charset="-120"/>
              </a:rPr>
              <a:t>Inline agent</a:t>
            </a:r>
            <a:endParaRPr lang="en-US" sz="1100" dirty="0"/>
          </a:p>
        </p:txBody>
      </p:sp>
      <p:sp>
        <p:nvSpPr>
          <p:cNvPr id="17" name="Shape 15"/>
          <p:cNvSpPr/>
          <p:nvPr/>
        </p:nvSpPr>
        <p:spPr>
          <a:xfrm>
            <a:off x="3383280" y="3017520"/>
            <a:ext cx="2286000" cy="365760"/>
          </a:xfrm>
          <a:prstGeom prst="roundRect">
            <a:avLst>
              <a:gd name="adj" fmla="val 12500"/>
            </a:avLst>
          </a:prstGeom>
          <a:solidFill>
            <a:srgbClr val="4A3A10"/>
          </a:solidFill>
          <a:ln/>
        </p:spPr>
      </p:sp>
      <p:sp>
        <p:nvSpPr>
          <p:cNvPr id="18" name="Text 16"/>
          <p:cNvSpPr/>
          <p:nvPr/>
        </p:nvSpPr>
        <p:spPr>
          <a:xfrm>
            <a:off x="3474720" y="2971800"/>
            <a:ext cx="2194560" cy="457200"/>
          </a:xfrm>
          <a:prstGeom prst="rect">
            <a:avLst/>
          </a:prstGeom>
          <a:noFill/>
          <a:ln/>
        </p:spPr>
        <p:txBody>
          <a:bodyPr wrap="square"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 are here</a:t>
            </a:r>
            <a:endParaRPr lang="en-US" sz="900" dirty="0"/>
          </a:p>
        </p:txBody>
      </p:sp>
      <p:sp>
        <p:nvSpPr>
          <p:cNvPr id="19" name="Text 17"/>
          <p:cNvSpPr/>
          <p:nvPr/>
        </p:nvSpPr>
        <p:spPr>
          <a:xfrm>
            <a:off x="914400" y="3566160"/>
            <a:ext cx="365760" cy="457200"/>
          </a:xfrm>
          <a:prstGeom prst="rect">
            <a:avLst/>
          </a:prstGeom>
          <a:noFill/>
          <a:ln/>
        </p:spPr>
        <p:txBody>
          <a:bodyPr wrap="square" rtlCol="0" anchor="ctr"/>
          <a:lstStyle/>
          <a:p>
            <a:pPr algn="r" indent="0" marL="0">
              <a:buNone/>
            </a:pPr>
            <a:r>
              <a:rPr lang="en-US" sz="1100" b="1" dirty="0">
                <a:solidFill>
                  <a:srgbClr val="52525B"/>
                </a:solidFill>
                <a:latin typeface="Segoe UI" pitchFamily="34" charset="0"/>
                <a:ea typeface="Segoe UI" pitchFamily="34" charset="-122"/>
                <a:cs typeface="Segoe UI" pitchFamily="34" charset="-120"/>
              </a:rPr>
              <a:t>5</a:t>
            </a:r>
            <a:endParaRPr lang="en-US" sz="1100" dirty="0"/>
          </a:p>
        </p:txBody>
      </p:sp>
      <p:sp>
        <p:nvSpPr>
          <p:cNvPr id="20" name="Text 18"/>
          <p:cNvSpPr/>
          <p:nvPr/>
        </p:nvSpPr>
        <p:spPr>
          <a:xfrm>
            <a:off x="1371600" y="3566160"/>
            <a:ext cx="1828800" cy="457200"/>
          </a:xfrm>
          <a:prstGeom prst="rect">
            <a:avLst/>
          </a:prstGeom>
          <a:noFill/>
          <a:ln/>
        </p:spPr>
        <p:txBody>
          <a:bodyPr wrap="square" rtlCol="0" anchor="ctr"/>
          <a:lstStyle/>
          <a:p>
            <a:pPr algn="r" indent="0" marL="0">
              <a:buNone/>
            </a:pPr>
            <a:r>
              <a:rPr lang="en-US" sz="1100" dirty="0">
                <a:solidFill>
                  <a:srgbClr val="71717A"/>
                </a:solidFill>
                <a:latin typeface="Segoe UI" pitchFamily="34" charset="0"/>
                <a:ea typeface="Segoe UI" pitchFamily="34" charset="-122"/>
                <a:cs typeface="Segoe UI" pitchFamily="34" charset="-120"/>
              </a:rPr>
              <a:t>Full agent mode</a:t>
            </a:r>
            <a:endParaRPr lang="en-US" sz="1100" dirty="0"/>
          </a:p>
        </p:txBody>
      </p:sp>
      <p:sp>
        <p:nvSpPr>
          <p:cNvPr id="21" name="Shape 19"/>
          <p:cNvSpPr/>
          <p:nvPr/>
        </p:nvSpPr>
        <p:spPr>
          <a:xfrm>
            <a:off x="3383280" y="3611880"/>
            <a:ext cx="3017520" cy="365760"/>
          </a:xfrm>
          <a:prstGeom prst="roundRect">
            <a:avLst>
              <a:gd name="adj" fmla="val 12500"/>
            </a:avLst>
          </a:prstGeom>
          <a:solidFill>
            <a:srgbClr val="2E1F5E"/>
          </a:solidFill>
          <a:ln/>
        </p:spPr>
      </p:sp>
      <p:sp>
        <p:nvSpPr>
          <p:cNvPr id="22" name="Text 20"/>
          <p:cNvSpPr/>
          <p:nvPr/>
        </p:nvSpPr>
        <p:spPr>
          <a:xfrm>
            <a:off x="3474720" y="3566160"/>
            <a:ext cx="2926080" cy="457200"/>
          </a:xfrm>
          <a:prstGeom prst="rect">
            <a:avLst/>
          </a:prstGeom>
          <a:noFill/>
          <a:ln/>
        </p:spPr>
        <p:txBody>
          <a:bodyPr wrap="square"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GHCP Agent Mode</a:t>
            </a:r>
            <a:endParaRPr lang="en-US" sz="900" dirty="0"/>
          </a:p>
        </p:txBody>
      </p:sp>
      <p:sp>
        <p:nvSpPr>
          <p:cNvPr id="23" name="Text 21"/>
          <p:cNvSpPr/>
          <p:nvPr/>
        </p:nvSpPr>
        <p:spPr>
          <a:xfrm>
            <a:off x="914400" y="4160520"/>
            <a:ext cx="365760" cy="457200"/>
          </a:xfrm>
          <a:prstGeom prst="rect">
            <a:avLst/>
          </a:prstGeom>
          <a:noFill/>
          <a:ln/>
        </p:spPr>
        <p:txBody>
          <a:bodyPr wrap="square" rtlCol="0" anchor="ctr"/>
          <a:lstStyle/>
          <a:p>
            <a:pPr algn="r" indent="0" marL="0">
              <a:buNone/>
            </a:pPr>
            <a:r>
              <a:rPr lang="en-US" sz="1100" b="1" dirty="0">
                <a:solidFill>
                  <a:srgbClr val="52525B"/>
                </a:solidFill>
                <a:latin typeface="Segoe UI" pitchFamily="34" charset="0"/>
                <a:ea typeface="Segoe UI" pitchFamily="34" charset="-122"/>
                <a:cs typeface="Segoe UI" pitchFamily="34" charset="-120"/>
              </a:rPr>
              <a:t>6</a:t>
            </a:r>
            <a:endParaRPr lang="en-US" sz="1100" dirty="0"/>
          </a:p>
        </p:txBody>
      </p:sp>
      <p:sp>
        <p:nvSpPr>
          <p:cNvPr id="24" name="Text 22"/>
          <p:cNvSpPr/>
          <p:nvPr/>
        </p:nvSpPr>
        <p:spPr>
          <a:xfrm>
            <a:off x="1371600" y="4160520"/>
            <a:ext cx="1828800" cy="457200"/>
          </a:xfrm>
          <a:prstGeom prst="rect">
            <a:avLst/>
          </a:prstGeom>
          <a:noFill/>
          <a:ln/>
        </p:spPr>
        <p:txBody>
          <a:bodyPr wrap="square" rtlCol="0" anchor="ctr"/>
          <a:lstStyle/>
          <a:p>
            <a:pPr algn="r" indent="0" marL="0">
              <a:buNone/>
            </a:pPr>
            <a:r>
              <a:rPr lang="en-US" sz="1100" dirty="0">
                <a:solidFill>
                  <a:srgbClr val="71717A"/>
                </a:solidFill>
                <a:latin typeface="Segoe UI" pitchFamily="34" charset="0"/>
                <a:ea typeface="Segoe UI" pitchFamily="34" charset="-122"/>
                <a:cs typeface="Segoe UI" pitchFamily="34" charset="-120"/>
              </a:rPr>
              <a:t>Multi-agent</a:t>
            </a:r>
            <a:endParaRPr lang="en-US" sz="1100" dirty="0"/>
          </a:p>
        </p:txBody>
      </p:sp>
      <p:sp>
        <p:nvSpPr>
          <p:cNvPr id="25" name="Shape 23"/>
          <p:cNvSpPr/>
          <p:nvPr/>
        </p:nvSpPr>
        <p:spPr>
          <a:xfrm>
            <a:off x="3383280" y="4206240"/>
            <a:ext cx="3840480" cy="365760"/>
          </a:xfrm>
          <a:prstGeom prst="roundRect">
            <a:avLst>
              <a:gd name="adj" fmla="val 12500"/>
            </a:avLst>
          </a:prstGeom>
          <a:solidFill>
            <a:srgbClr val="0C3A6E"/>
          </a:solidFill>
          <a:ln/>
        </p:spPr>
      </p:sp>
      <p:sp>
        <p:nvSpPr>
          <p:cNvPr id="26" name="Text 24"/>
          <p:cNvSpPr/>
          <p:nvPr/>
        </p:nvSpPr>
        <p:spPr>
          <a:xfrm>
            <a:off x="3474720" y="4160520"/>
            <a:ext cx="3749040" cy="457200"/>
          </a:xfrm>
          <a:prstGeom prst="rect">
            <a:avLst/>
          </a:prstGeom>
          <a:noFill/>
          <a:ln/>
        </p:spPr>
        <p:txBody>
          <a:bodyPr wrap="square"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Orchestration begins</a:t>
            </a:r>
            <a:endParaRPr lang="en-US" sz="900" dirty="0"/>
          </a:p>
        </p:txBody>
      </p:sp>
      <p:sp>
        <p:nvSpPr>
          <p:cNvPr id="27" name="Text 25"/>
          <p:cNvSpPr/>
          <p:nvPr/>
        </p:nvSpPr>
        <p:spPr>
          <a:xfrm>
            <a:off x="914400" y="4754880"/>
            <a:ext cx="365760" cy="457200"/>
          </a:xfrm>
          <a:prstGeom prst="rect">
            <a:avLst/>
          </a:prstGeom>
          <a:noFill/>
          <a:ln/>
        </p:spPr>
        <p:txBody>
          <a:bodyPr wrap="square" rtlCol="0" anchor="ctr"/>
          <a:lstStyle/>
          <a:p>
            <a:pPr algn="r" indent="0" marL="0">
              <a:buNone/>
            </a:pPr>
            <a:r>
              <a:rPr lang="en-US" sz="1100" b="1" dirty="0">
                <a:solidFill>
                  <a:srgbClr val="52525B"/>
                </a:solidFill>
                <a:latin typeface="Segoe UI" pitchFamily="34" charset="0"/>
                <a:ea typeface="Segoe UI" pitchFamily="34" charset="-122"/>
                <a:cs typeface="Segoe UI" pitchFamily="34" charset="-120"/>
              </a:rPr>
              <a:t>7</a:t>
            </a:r>
            <a:endParaRPr lang="en-US" sz="1100" dirty="0"/>
          </a:p>
        </p:txBody>
      </p:sp>
      <p:sp>
        <p:nvSpPr>
          <p:cNvPr id="28" name="Text 26"/>
          <p:cNvSpPr/>
          <p:nvPr/>
        </p:nvSpPr>
        <p:spPr>
          <a:xfrm>
            <a:off x="1371600" y="4754880"/>
            <a:ext cx="1828800" cy="457200"/>
          </a:xfrm>
          <a:prstGeom prst="rect">
            <a:avLst/>
          </a:prstGeom>
          <a:noFill/>
          <a:ln/>
        </p:spPr>
        <p:txBody>
          <a:bodyPr wrap="square" rtlCol="0" anchor="ctr"/>
          <a:lstStyle/>
          <a:p>
            <a:pPr algn="r" indent="0" marL="0">
              <a:buNone/>
            </a:pPr>
            <a:r>
              <a:rPr lang="en-US" sz="1100" dirty="0">
                <a:solidFill>
                  <a:srgbClr val="71717A"/>
                </a:solidFill>
                <a:latin typeface="Segoe UI" pitchFamily="34" charset="0"/>
                <a:ea typeface="Segoe UI" pitchFamily="34" charset="-122"/>
                <a:cs typeface="Segoe UI" pitchFamily="34" charset="-120"/>
              </a:rPr>
              <a:t>Agent teams</a:t>
            </a:r>
            <a:endParaRPr lang="en-US" sz="1100" dirty="0"/>
          </a:p>
        </p:txBody>
      </p:sp>
      <p:sp>
        <p:nvSpPr>
          <p:cNvPr id="29" name="Shape 27"/>
          <p:cNvSpPr/>
          <p:nvPr/>
        </p:nvSpPr>
        <p:spPr>
          <a:xfrm>
            <a:off x="3383280" y="4800600"/>
            <a:ext cx="4754880" cy="365760"/>
          </a:xfrm>
          <a:prstGeom prst="roundRect">
            <a:avLst>
              <a:gd name="adj" fmla="val 12500"/>
            </a:avLst>
          </a:prstGeom>
          <a:solidFill>
            <a:srgbClr val="0A4A3A"/>
          </a:solidFill>
          <a:ln/>
        </p:spPr>
      </p:sp>
      <p:sp>
        <p:nvSpPr>
          <p:cNvPr id="30" name="Text 28"/>
          <p:cNvSpPr/>
          <p:nvPr/>
        </p:nvSpPr>
        <p:spPr>
          <a:xfrm>
            <a:off x="3474720" y="4754880"/>
            <a:ext cx="4663440" cy="457200"/>
          </a:xfrm>
          <a:prstGeom prst="rect">
            <a:avLst/>
          </a:prstGeom>
          <a:noFill/>
          <a:ln/>
        </p:spPr>
        <p:txBody>
          <a:bodyPr wrap="square"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Autonomous operations</a:t>
            </a:r>
            <a:endParaRPr lang="en-US" sz="900" dirty="0"/>
          </a:p>
        </p:txBody>
      </p:sp>
      <p:sp>
        <p:nvSpPr>
          <p:cNvPr id="31" name="Text 29"/>
          <p:cNvSpPr/>
          <p:nvPr/>
        </p:nvSpPr>
        <p:spPr>
          <a:xfrm>
            <a:off x="914400" y="5349240"/>
            <a:ext cx="365760" cy="457200"/>
          </a:xfrm>
          <a:prstGeom prst="rect">
            <a:avLst/>
          </a:prstGeom>
          <a:noFill/>
          <a:ln/>
        </p:spPr>
        <p:txBody>
          <a:bodyPr wrap="square" rtlCol="0" anchor="ctr"/>
          <a:lstStyle/>
          <a:p>
            <a:pPr algn="r" indent="0" marL="0">
              <a:buNone/>
            </a:pPr>
            <a:r>
              <a:rPr lang="en-US" sz="1100" b="1" dirty="0">
                <a:solidFill>
                  <a:srgbClr val="52525B"/>
                </a:solidFill>
                <a:latin typeface="Segoe UI" pitchFamily="34" charset="0"/>
                <a:ea typeface="Segoe UI" pitchFamily="34" charset="-122"/>
                <a:cs typeface="Segoe UI" pitchFamily="34" charset="-120"/>
              </a:rPr>
              <a:t>8</a:t>
            </a:r>
            <a:endParaRPr lang="en-US" sz="1100" dirty="0"/>
          </a:p>
        </p:txBody>
      </p:sp>
      <p:sp>
        <p:nvSpPr>
          <p:cNvPr id="32" name="Text 30"/>
          <p:cNvSpPr/>
          <p:nvPr/>
        </p:nvSpPr>
        <p:spPr>
          <a:xfrm>
            <a:off x="1371600" y="5349240"/>
            <a:ext cx="1828800" cy="457200"/>
          </a:xfrm>
          <a:prstGeom prst="rect">
            <a:avLst/>
          </a:prstGeom>
          <a:noFill/>
          <a:ln/>
        </p:spPr>
        <p:txBody>
          <a:bodyPr wrap="square" rtlCol="0" anchor="ctr"/>
          <a:lstStyle/>
          <a:p>
            <a:pPr algn="r" indent="0" marL="0">
              <a:buNone/>
            </a:pPr>
            <a:r>
              <a:rPr lang="en-US" sz="1100" dirty="0">
                <a:solidFill>
                  <a:srgbClr val="71717A"/>
                </a:solidFill>
                <a:latin typeface="Segoe UI" pitchFamily="34" charset="0"/>
                <a:ea typeface="Segoe UI" pitchFamily="34" charset="-122"/>
                <a:cs typeface="Segoe UI" pitchFamily="34" charset="-120"/>
              </a:rPr>
              <a:t>Full autonomy</a:t>
            </a:r>
            <a:endParaRPr lang="en-US" sz="1100" dirty="0"/>
          </a:p>
        </p:txBody>
      </p:sp>
      <p:sp>
        <p:nvSpPr>
          <p:cNvPr id="33" name="Shape 31"/>
          <p:cNvSpPr/>
          <p:nvPr/>
        </p:nvSpPr>
        <p:spPr>
          <a:xfrm>
            <a:off x="3383280" y="5394960"/>
            <a:ext cx="5669280" cy="365760"/>
          </a:xfrm>
          <a:prstGeom prst="roundRect">
            <a:avLst>
              <a:gd name="adj" fmla="val 12500"/>
            </a:avLst>
          </a:prstGeom>
          <a:solidFill>
            <a:srgbClr val="0D5E3A"/>
          </a:solidFill>
          <a:ln/>
        </p:spPr>
      </p:sp>
      <p:sp>
        <p:nvSpPr>
          <p:cNvPr id="34" name="Text 32"/>
          <p:cNvSpPr/>
          <p:nvPr/>
        </p:nvSpPr>
        <p:spPr>
          <a:xfrm>
            <a:off x="3474720" y="5349240"/>
            <a:ext cx="5577840" cy="457200"/>
          </a:xfrm>
          <a:prstGeom prst="rect">
            <a:avLst/>
          </a:prstGeom>
          <a:noFill/>
          <a:ln/>
        </p:spPr>
        <p:txBody>
          <a:bodyPr wrap="square" rtlCol="0" anchor="ctr"/>
          <a:lstStyle/>
          <a:p>
            <a:pPr indent="0" marL="0">
              <a:buNone/>
            </a:pPr>
            <a:r>
              <a:rPr lang="en-US" sz="900" b="1" dirty="0">
                <a:solidFill>
                  <a:srgbClr val="FFFFFF"/>
                </a:solidFill>
                <a:latin typeface="Segoe UI" pitchFamily="34" charset="0"/>
                <a:ea typeface="Segoe UI" pitchFamily="34" charset="-122"/>
                <a:cs typeface="Segoe UI" pitchFamily="34" charset="-120"/>
              </a:rPr>
              <a:t>Infra operators ★</a:t>
            </a:r>
            <a:endParaRPr lang="en-US" sz="900" dirty="0"/>
          </a:p>
        </p:txBody>
      </p:sp>
      <p:sp>
        <p:nvSpPr>
          <p:cNvPr id="35" name="Text 33"/>
          <p:cNvSpPr/>
          <p:nvPr/>
        </p:nvSpPr>
        <p:spPr>
          <a:xfrm>
            <a:off x="0" y="6126480"/>
            <a:ext cx="12192000" cy="365760"/>
          </a:xfrm>
          <a:prstGeom prst="rect">
            <a:avLst/>
          </a:prstGeom>
          <a:noFill/>
          <a:ln/>
        </p:spPr>
        <p:txBody>
          <a:bodyPr wrap="square" rtlCol="0" anchor="ctr"/>
          <a:lstStyle/>
          <a:p>
            <a:pPr algn="ctr" indent="0" marL="0">
              <a:buNone/>
            </a:pPr>
            <a:r>
              <a:rPr lang="en-US" sz="1100" dirty="0">
                <a:solidFill>
                  <a:srgbClr val="52525B"/>
                </a:solidFill>
                <a:latin typeface="Segoe UI" pitchFamily="34" charset="0"/>
                <a:ea typeface="Segoe UI" pitchFamily="34" charset="-122"/>
                <a:cs typeface="Segoe UI" pitchFamily="34" charset="-120"/>
              </a:rPr>
              <a:t>GHCP excels at levels 3–5. The opportunity — and the risk — lives at levels 6–8.</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457200"/>
            <a:ext cx="12192000" cy="640080"/>
          </a:xfrm>
          <a:prstGeom prst="rect">
            <a:avLst/>
          </a:prstGeom>
          <a:noFill/>
          <a:ln/>
        </p:spPr>
        <p:txBody>
          <a:bodyPr wrap="square"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What's </a:t>
            </a:r>
            <a:pPr algn="ctr" indent="0" marL="0">
              <a:buNone/>
            </a:pPr>
            <a:r>
              <a:rPr lang="en-US" sz="2600" b="1" dirty="0">
                <a:solidFill>
                  <a:srgbClr val="50A0E6"/>
                </a:solidFill>
                <a:latin typeface="Segoe UI" pitchFamily="34" charset="0"/>
                <a:ea typeface="Segoe UI" pitchFamily="34" charset="-122"/>
                <a:cs typeface="Segoe UI" pitchFamily="34" charset="-120"/>
              </a:rPr>
              <a:t>beyond</a:t>
            </a:r>
            <a:pPr algn="ctr" indent="0" marL="0">
              <a:buNone/>
            </a:pPr>
            <a:r>
              <a:rPr lang="en-US" sz="2600" b="1" dirty="0">
                <a:solidFill>
                  <a:srgbClr val="FFFFFF"/>
                </a:solidFill>
                <a:latin typeface="Segoe UI" pitchFamily="34" charset="0"/>
                <a:ea typeface="Segoe UI" pitchFamily="34" charset="-122"/>
                <a:cs typeface="Segoe UI" pitchFamily="34" charset="-120"/>
              </a:rPr>
              <a:t> code assistance?</a:t>
            </a:r>
            <a:endParaRPr lang="en-US" sz="2600" dirty="0"/>
          </a:p>
        </p:txBody>
      </p:sp>
      <p:sp>
        <p:nvSpPr>
          <p:cNvPr id="3" name="Shape 1"/>
          <p:cNvSpPr/>
          <p:nvPr/>
        </p:nvSpPr>
        <p:spPr>
          <a:xfrm>
            <a:off x="1097280" y="1463040"/>
            <a:ext cx="3108960" cy="2560320"/>
          </a:xfrm>
          <a:prstGeom prst="roundRect">
            <a:avLst>
              <a:gd name="adj" fmla="val 5357"/>
            </a:avLst>
          </a:prstGeom>
          <a:solidFill>
            <a:srgbClr val="27272A">
              <a:alpha val="60000"/>
            </a:srgbClr>
          </a:solidFill>
          <a:ln w="12700">
            <a:solidFill>
              <a:srgbClr val="8B5CF6">
                <a:alpha val="40000"/>
              </a:srgbClr>
            </a:solidFill>
            <a:prstDash val="solid"/>
          </a:ln>
        </p:spPr>
      </p:sp>
      <p:sp>
        <p:nvSpPr>
          <p:cNvPr id="4" name="Text 2"/>
          <p:cNvSpPr/>
          <p:nvPr/>
        </p:nvSpPr>
        <p:spPr>
          <a:xfrm>
            <a:off x="1280160" y="1645920"/>
            <a:ext cx="2743200" cy="457200"/>
          </a:xfrm>
          <a:prstGeom prst="rect">
            <a:avLst/>
          </a:prstGeom>
          <a:noFill/>
          <a:ln/>
        </p:spPr>
        <p:txBody>
          <a:bodyPr wrap="square" rtlCol="0" anchor="ctr"/>
          <a:lstStyle/>
          <a:p>
            <a:pPr indent="0" marL="0">
              <a:buNone/>
            </a:pPr>
            <a:r>
              <a:rPr lang="en-US" sz="1600" b="1" dirty="0">
                <a:solidFill>
                  <a:srgbClr val="8B5CF6"/>
                </a:solidFill>
                <a:latin typeface="Segoe UI" pitchFamily="34" charset="0"/>
                <a:ea typeface="Segoe UI" pitchFamily="34" charset="-122"/>
                <a:cs typeface="Segoe UI" pitchFamily="34" charset="-120"/>
              </a:rPr>
              <a:t>🚀 Deploy</a:t>
            </a:r>
            <a:endParaRPr lang="en-US" sz="1600" dirty="0"/>
          </a:p>
        </p:txBody>
      </p:sp>
      <p:sp>
        <p:nvSpPr>
          <p:cNvPr id="5" name="Text 3"/>
          <p:cNvSpPr/>
          <p:nvPr/>
        </p:nvSpPr>
        <p:spPr>
          <a:xfrm>
            <a:off x="1280160" y="2194560"/>
            <a:ext cx="2743200" cy="1463040"/>
          </a:xfrm>
          <a:prstGeom prst="rect">
            <a:avLst/>
          </a:prstGeom>
          <a:noFill/>
          <a:ln/>
        </p:spPr>
        <p:txBody>
          <a:bodyPr wrap="square" rtlCol="0" anchor="ctr"/>
          <a:lstStyle/>
          <a:p>
            <a:pPr indent="0" marL="0">
              <a:lnSpc>
                <a:spcPct val="140000"/>
              </a:lnSpc>
              <a:buNone/>
            </a:pPr>
            <a:r>
              <a:rPr lang="en-US" sz="1200" dirty="0">
                <a:solidFill>
                  <a:srgbClr val="71717A"/>
                </a:solidFill>
                <a:latin typeface="Segoe UI" pitchFamily="34" charset="0"/>
                <a:ea typeface="Segoe UI" pitchFamily="34" charset="-122"/>
                <a:cs typeface="Segoe UI" pitchFamily="34" charset="-120"/>
              </a:rPr>
              <a:t>Agents that provision infrastructure from a conversation. Architecture → Bicep → Azure, in minutes.</a:t>
            </a:r>
            <a:endParaRPr lang="en-US" sz="1200" dirty="0"/>
          </a:p>
        </p:txBody>
      </p:sp>
      <p:sp>
        <p:nvSpPr>
          <p:cNvPr id="6" name="Shape 4"/>
          <p:cNvSpPr/>
          <p:nvPr/>
        </p:nvSpPr>
        <p:spPr>
          <a:xfrm>
            <a:off x="4572000" y="1463040"/>
            <a:ext cx="3108960" cy="2560320"/>
          </a:xfrm>
          <a:prstGeom prst="roundRect">
            <a:avLst>
              <a:gd name="adj" fmla="val 5357"/>
            </a:avLst>
          </a:prstGeom>
          <a:solidFill>
            <a:srgbClr val="27272A">
              <a:alpha val="60000"/>
            </a:srgbClr>
          </a:solidFill>
          <a:ln w="12700">
            <a:solidFill>
              <a:srgbClr val="EF4444">
                <a:alpha val="40000"/>
              </a:srgbClr>
            </a:solidFill>
            <a:prstDash val="solid"/>
          </a:ln>
        </p:spPr>
      </p:sp>
      <p:sp>
        <p:nvSpPr>
          <p:cNvPr id="7" name="Text 5"/>
          <p:cNvSpPr/>
          <p:nvPr/>
        </p:nvSpPr>
        <p:spPr>
          <a:xfrm>
            <a:off x="4754880" y="1645920"/>
            <a:ext cx="2743200" cy="457200"/>
          </a:xfrm>
          <a:prstGeom prst="rect">
            <a:avLst/>
          </a:prstGeom>
          <a:noFill/>
          <a:ln/>
        </p:spPr>
        <p:txBody>
          <a:bodyPr wrap="square" rtlCol="0" anchor="ctr"/>
          <a:lstStyle/>
          <a:p>
            <a:pPr indent="0" marL="0">
              <a:buNone/>
            </a:pPr>
            <a:r>
              <a:rPr lang="en-US" sz="1600" b="1" dirty="0">
                <a:solidFill>
                  <a:srgbClr val="EF4444"/>
                </a:solidFill>
                <a:latin typeface="Segoe UI" pitchFamily="34" charset="0"/>
                <a:ea typeface="Segoe UI" pitchFamily="34" charset="-122"/>
                <a:cs typeface="Segoe UI" pitchFamily="34" charset="-120"/>
              </a:rPr>
              <a:t>🚨 Respond</a:t>
            </a:r>
            <a:endParaRPr lang="en-US" sz="1600" dirty="0"/>
          </a:p>
        </p:txBody>
      </p:sp>
      <p:sp>
        <p:nvSpPr>
          <p:cNvPr id="8" name="Text 6"/>
          <p:cNvSpPr/>
          <p:nvPr/>
        </p:nvSpPr>
        <p:spPr>
          <a:xfrm>
            <a:off x="4754880" y="2194560"/>
            <a:ext cx="2743200" cy="1463040"/>
          </a:xfrm>
          <a:prstGeom prst="rect">
            <a:avLst/>
          </a:prstGeom>
          <a:noFill/>
          <a:ln/>
        </p:spPr>
        <p:txBody>
          <a:bodyPr wrap="square" rtlCol="0" anchor="ctr"/>
          <a:lstStyle/>
          <a:p>
            <a:pPr indent="0" marL="0">
              <a:lnSpc>
                <a:spcPct val="140000"/>
              </a:lnSpc>
              <a:buNone/>
            </a:pPr>
            <a:r>
              <a:rPr lang="en-US" sz="1200" dirty="0">
                <a:solidFill>
                  <a:srgbClr val="71717A"/>
                </a:solidFill>
                <a:latin typeface="Segoe UI" pitchFamily="34" charset="0"/>
                <a:ea typeface="Segoe UI" pitchFamily="34" charset="-122"/>
                <a:cs typeface="Segoe UI" pitchFamily="34" charset="-120"/>
              </a:rPr>
              <a:t>3 AM incident? Agent diagnoses, proposes fix, executes with approval. From your phone.</a:t>
            </a:r>
            <a:endParaRPr lang="en-US" sz="1200" dirty="0"/>
          </a:p>
        </p:txBody>
      </p:sp>
      <p:sp>
        <p:nvSpPr>
          <p:cNvPr id="9" name="Shape 7"/>
          <p:cNvSpPr/>
          <p:nvPr/>
        </p:nvSpPr>
        <p:spPr>
          <a:xfrm>
            <a:off x="8046720" y="1463040"/>
            <a:ext cx="3108960" cy="2560320"/>
          </a:xfrm>
          <a:prstGeom prst="roundRect">
            <a:avLst>
              <a:gd name="adj" fmla="val 5357"/>
            </a:avLst>
          </a:prstGeom>
          <a:solidFill>
            <a:srgbClr val="27272A">
              <a:alpha val="60000"/>
            </a:srgbClr>
          </a:solidFill>
          <a:ln w="12700">
            <a:solidFill>
              <a:srgbClr val="F59E0B">
                <a:alpha val="40000"/>
              </a:srgbClr>
            </a:solidFill>
            <a:prstDash val="solid"/>
          </a:ln>
        </p:spPr>
      </p:sp>
      <p:sp>
        <p:nvSpPr>
          <p:cNvPr id="10" name="Text 8"/>
          <p:cNvSpPr/>
          <p:nvPr/>
        </p:nvSpPr>
        <p:spPr>
          <a:xfrm>
            <a:off x="8229600" y="1645920"/>
            <a:ext cx="2743200" cy="457200"/>
          </a:xfrm>
          <a:prstGeom prst="rect">
            <a:avLst/>
          </a:prstGeom>
          <a:noFill/>
          <a:ln/>
        </p:spPr>
        <p:txBody>
          <a:bodyPr wrap="square" rtlCol="0" anchor="ctr"/>
          <a:lstStyle/>
          <a:p>
            <a:pPr indent="0" marL="0">
              <a:buNone/>
            </a:pPr>
            <a:r>
              <a:rPr lang="en-US" sz="1600" b="1" dirty="0">
                <a:solidFill>
                  <a:srgbClr val="F59E0B"/>
                </a:solidFill>
                <a:latin typeface="Segoe UI" pitchFamily="34" charset="0"/>
                <a:ea typeface="Segoe UI" pitchFamily="34" charset="-122"/>
                <a:cs typeface="Segoe UI" pitchFamily="34" charset="-120"/>
              </a:rPr>
              <a:t>💰 Optimize</a:t>
            </a:r>
            <a:endParaRPr lang="en-US" sz="1600" dirty="0"/>
          </a:p>
        </p:txBody>
      </p:sp>
      <p:sp>
        <p:nvSpPr>
          <p:cNvPr id="11" name="Text 9"/>
          <p:cNvSpPr/>
          <p:nvPr/>
        </p:nvSpPr>
        <p:spPr>
          <a:xfrm>
            <a:off x="8229600" y="2194560"/>
            <a:ext cx="2743200" cy="1463040"/>
          </a:xfrm>
          <a:prstGeom prst="rect">
            <a:avLst/>
          </a:prstGeom>
          <a:noFill/>
          <a:ln/>
        </p:spPr>
        <p:txBody>
          <a:bodyPr wrap="square" rtlCol="0" anchor="ctr"/>
          <a:lstStyle/>
          <a:p>
            <a:pPr indent="0" marL="0">
              <a:lnSpc>
                <a:spcPct val="140000"/>
              </a:lnSpc>
              <a:buNone/>
            </a:pPr>
            <a:r>
              <a:rPr lang="en-US" sz="1200" dirty="0">
                <a:solidFill>
                  <a:srgbClr val="71717A"/>
                </a:solidFill>
                <a:latin typeface="Segoe UI" pitchFamily="34" charset="0"/>
                <a:ea typeface="Segoe UI" pitchFamily="34" charset="-122"/>
                <a:cs typeface="Segoe UI" pitchFamily="34" charset="-120"/>
              </a:rPr>
              <a:t>Continuous FinOps. Find waste, right-size, enforce budgets. Not annual reviews — real-time.</a:t>
            </a:r>
            <a:endParaRPr lang="en-US" sz="1200" dirty="0"/>
          </a:p>
        </p:txBody>
      </p:sp>
      <p:sp>
        <p:nvSpPr>
          <p:cNvPr id="12" name="Text 10"/>
          <p:cNvSpPr/>
          <p:nvPr/>
        </p:nvSpPr>
        <p:spPr>
          <a:xfrm>
            <a:off x="0" y="4572000"/>
            <a:ext cx="12192000" cy="548640"/>
          </a:xfrm>
          <a:prstGeom prst="rect">
            <a:avLst/>
          </a:prstGeom>
          <a:noFill/>
          <a:ln/>
        </p:spPr>
        <p:txBody>
          <a:bodyPr wrap="square" rtlCol="0" anchor="ctr"/>
          <a:lstStyle/>
          <a:p>
            <a:pPr algn="ctr" indent="0" marL="0">
              <a:buNone/>
            </a:pPr>
            <a:r>
              <a:rPr lang="en-US" sz="1400" dirty="0">
                <a:solidFill>
                  <a:srgbClr val="71717A"/>
                </a:solidFill>
                <a:latin typeface="Segoe UI" pitchFamily="34" charset="0"/>
                <a:ea typeface="Segoe UI" pitchFamily="34" charset="-122"/>
                <a:cs typeface="Segoe UI" pitchFamily="34" charset="-120"/>
              </a:rPr>
              <a:t>This is where </a:t>
            </a:r>
            <a:pPr algn="ctr" indent="0" marL="0">
              <a:buNone/>
            </a:pPr>
            <a:r>
              <a:rPr lang="en-US" sz="1400" dirty="0">
                <a:solidFill>
                  <a:srgbClr val="50A0E6"/>
                </a:solidFill>
                <a:latin typeface="Segoe UI" pitchFamily="34" charset="0"/>
                <a:ea typeface="Segoe UI" pitchFamily="34" charset="-122"/>
                <a:cs typeface="Segoe UI" pitchFamily="34" charset="-120"/>
              </a:rPr>
              <a:t>OpenClaw</a:t>
            </a:r>
            <a:pPr algn="ctr" indent="0" marL="0">
              <a:buNone/>
            </a:pPr>
            <a:r>
              <a:rPr lang="en-US" sz="1400" dirty="0">
                <a:solidFill>
                  <a:srgbClr val="71717A"/>
                </a:solidFill>
                <a:latin typeface="Segoe UI" pitchFamily="34" charset="0"/>
                <a:ea typeface="Segoe UI" pitchFamily="34" charset="-122"/>
                <a:cs typeface="Segoe UI" pitchFamily="34" charset="-120"/>
              </a:rPr>
              <a:t> sits — not competing with GHCP, </a:t>
            </a:r>
            <a:pPr algn="ctr" indent="0" marL="0">
              <a:buNone/>
            </a:pPr>
            <a:r>
              <a:rPr lang="en-US" sz="1400" b="1" dirty="0">
                <a:solidFill>
                  <a:srgbClr val="FFFFFF"/>
                </a:solidFill>
                <a:latin typeface="Segoe UI" pitchFamily="34" charset="0"/>
                <a:ea typeface="Segoe UI" pitchFamily="34" charset="-122"/>
                <a:cs typeface="Segoe UI" pitchFamily="34" charset="-120"/>
              </a:rPr>
              <a:t>extending beyond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914400"/>
            <a:ext cx="12192000" cy="365760"/>
          </a:xfrm>
          <a:prstGeom prst="rect">
            <a:avLst/>
          </a:prstGeom>
          <a:noFill/>
          <a:ln/>
        </p:spPr>
        <p:txBody>
          <a:bodyPr wrap="square" rtlCol="0" anchor="ctr"/>
          <a:lstStyle/>
          <a:p>
            <a:pPr algn="ctr" indent="0" marL="0">
              <a:buNone/>
            </a:pPr>
            <a:r>
              <a:rPr lang="en-US" sz="1100" b="1" dirty="0">
                <a:solidFill>
                  <a:srgbClr val="50A0E6"/>
                </a:solidFill>
                <a:latin typeface="Segoe UI" pitchFamily="34" charset="0"/>
                <a:ea typeface="Segoe UI" pitchFamily="34" charset="-122"/>
                <a:cs typeface="Segoe UI" pitchFamily="34" charset="-120"/>
              </a:rPr>
              <a:t>The Objection</a:t>
            </a:r>
            <a:endParaRPr lang="en-US" sz="1100" dirty="0"/>
          </a:p>
        </p:txBody>
      </p:sp>
      <p:sp>
        <p:nvSpPr>
          <p:cNvPr id="3" name="Text 1"/>
          <p:cNvSpPr txBox="1"/>
          <p:nvPr/>
        </p:nvSpPr>
        <p:spPr>
          <a:xfrm>
            <a:off x="731520" y="1371600"/>
            <a:ext cx="10725912" cy="1828800"/>
          </a:xfrm>
          <a:prstGeom prst="rect">
            <a:avLst/>
          </a:prstGeom>
          <a:noFill/>
          <a:ln/>
        </p:spPr>
        <p:txBody>
          <a:bodyPr wrap="square" rtlCol="0" anchor="ctr"/>
          <a:lstStyle/>
          <a:p>
            <a:pPr algn="ctr" indent="0" marL="0">
              <a:lnSpc>
                <a:spcPct val="110000"/>
              </a:lnSpc>
              <a:buNone/>
            </a:pPr>
            <a:r>
              <a:rPr lang="en-US" sz="3600" b="1" dirty="0">
                <a:solidFill>
                  <a:srgbClr val="FFFFFF"/>
                </a:solidFill>
                <a:latin typeface="Segoe UI" pitchFamily="34" charset="0"/>
                <a:ea typeface="Segoe UI" pitchFamily="34" charset="-122"/>
                <a:cs typeface="Segoe UI" pitchFamily="34" charset="-120"/>
              </a:rPr>
              <a:t>"Can't I do all this</a:t>
            </a:r>
            <a:endParaRPr lang="en-US" sz="3600" dirty="0"/>
          </a:p>
          <a:p>
            <a:pPr algn="ctr" indent="0" marL="0">
              <a:lnSpc>
                <a:spcPct val="110000"/>
              </a:lnSpc>
              <a:buNone/>
            </a:pPr>
            <a:r>
              <a:rPr lang="en-US" sz="3600" b="1" dirty="0">
                <a:solidFill>
                  <a:srgbClr val="FFFFFF"/>
                </a:solidFill>
                <a:latin typeface="Segoe UI" pitchFamily="34" charset="0"/>
                <a:ea typeface="Segoe UI" pitchFamily="34" charset="-122"/>
                <a:cs typeface="Segoe UI" pitchFamily="34" charset="-120"/>
              </a:rPr>
              <a:t>with </a:t>
            </a:r>
            <a:endParaRPr lang="en-US" sz="3600" dirty="0"/>
          </a:p>
          <a:p>
            <a:pPr algn="ctr" indent="0" marL="0">
              <a:lnSpc>
                <a:spcPct val="110000"/>
              </a:lnSpc>
              <a:buNone/>
            </a:pPr>
            <a:r>
              <a:rPr lang="en-US" sz="3600" b="1" dirty="0">
                <a:solidFill>
                  <a:srgbClr val="50A0E6"/>
                </a:solidFill>
                <a:latin typeface="Segoe UI" pitchFamily="34" charset="0"/>
                <a:ea typeface="Segoe UI" pitchFamily="34" charset="-122"/>
                <a:cs typeface="Segoe UI" pitchFamily="34" charset="-120"/>
              </a:rPr>
              <a:t>GitHub Copilot</a:t>
            </a:r>
            <a:pPr algn="ctr" indent="0" marL="0">
              <a:lnSpc>
                <a:spcPct val="110000"/>
              </a:lnSpc>
              <a:buNone/>
            </a:pPr>
            <a:r>
              <a:rPr lang="en-US" sz="3600" b="1" dirty="0">
                <a:solidFill>
                  <a:srgbClr val="FFFFFF"/>
                </a:solidFill>
                <a:latin typeface="Segoe UI" pitchFamily="34" charset="0"/>
                <a:ea typeface="Segoe UI" pitchFamily="34" charset="-122"/>
                <a:cs typeface="Segoe UI" pitchFamily="34" charset="-120"/>
              </a:rPr>
              <a:t>?"</a:t>
            </a:r>
            <a:endParaRPr lang="en-US" sz="3600" dirty="0"/>
          </a:p>
        </p:txBody>
      </p:sp>
      <p:sp>
        <p:nvSpPr>
          <p:cNvPr id="4" name="Text 2"/>
          <p:cNvSpPr/>
          <p:nvPr/>
        </p:nvSpPr>
        <p:spPr>
          <a:xfrm>
            <a:off x="1371600" y="3291840"/>
            <a:ext cx="9445752" cy="1097280"/>
          </a:xfrm>
          <a:prstGeom prst="rect">
            <a:avLst/>
          </a:prstGeom>
          <a:noFill/>
          <a:ln/>
        </p:spPr>
        <p:txBody>
          <a:bodyPr wrap="square" rtlCol="0" anchor="ctr"/>
          <a:lstStyle/>
          <a:p>
            <a:pPr algn="ctr" indent="0" marL="0">
              <a:lnSpc>
                <a:spcPct val="140000"/>
              </a:lnSpc>
              <a:buNone/>
            </a:pPr>
            <a:r>
              <a:rPr lang="en-US" sz="1600" dirty="0">
                <a:solidFill>
                  <a:srgbClr val="71717A"/>
                </a:solidFill>
                <a:latin typeface="Segoe UI" pitchFamily="34" charset="0"/>
                <a:ea typeface="Segoe UI" pitchFamily="34" charset="-122"/>
                <a:cs typeface="Segoe UI" pitchFamily="34" charset="-120"/>
              </a:rPr>
              <a:t>Let's address this head-on.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548640" y="457200"/>
            <a:ext cx="5212080" cy="5303520"/>
          </a:xfrm>
          <a:prstGeom prst="roundRect">
            <a:avLst>
              <a:gd name="adj" fmla="val 2632"/>
            </a:avLst>
          </a:prstGeom>
          <a:solidFill>
            <a:srgbClr val="27272A">
              <a:alpha val="60000"/>
            </a:srgbClr>
          </a:solidFill>
          <a:ln w="12700">
            <a:solidFill>
              <a:srgbClr val="3F3F46"/>
            </a:solidFill>
            <a:prstDash val="solid"/>
          </a:ln>
        </p:spPr>
      </p:sp>
      <p:sp>
        <p:nvSpPr>
          <p:cNvPr id="3" name="Text 1"/>
          <p:cNvSpPr/>
          <p:nvPr/>
        </p:nvSpPr>
        <p:spPr>
          <a:xfrm>
            <a:off x="731520" y="640080"/>
            <a:ext cx="4846320" cy="548640"/>
          </a:xfrm>
          <a:prstGeom prst="rect">
            <a:avLst/>
          </a:prstGeom>
          <a:noFill/>
          <a:ln/>
        </p:spPr>
        <p:txBody>
          <a:bodyPr wrap="square"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GitHub Copilot</a:t>
            </a:r>
            <a:endParaRPr lang="en-US" sz="2000" dirty="0"/>
          </a:p>
        </p:txBody>
      </p:sp>
      <p:sp>
        <p:nvSpPr>
          <p:cNvPr id="4" name="Text 2"/>
          <p:cNvSpPr/>
          <p:nvPr/>
        </p:nvSpPr>
        <p:spPr>
          <a:xfrm>
            <a:off x="1097280" y="1371600"/>
            <a:ext cx="4389120" cy="457200"/>
          </a:xfrm>
          <a:prstGeom prst="rect">
            <a:avLst/>
          </a:prstGeom>
          <a:noFill/>
          <a:ln/>
        </p:spPr>
        <p:txBody>
          <a:bodyPr wrap="square" rtlCol="0" anchor="ctr"/>
          <a:lstStyle/>
          <a:p>
            <a:pPr indent="0" marL="0">
              <a:buNone/>
            </a:pPr>
            <a:r>
              <a:rPr lang="en-US" sz="1300" dirty="0">
                <a:solidFill>
                  <a:srgbClr val="71717A"/>
                </a:solidFill>
                <a:latin typeface="Segoe UI" pitchFamily="34" charset="0"/>
                <a:ea typeface="Segoe UI" pitchFamily="34" charset="-122"/>
                <a:cs typeface="Segoe UI" pitchFamily="34" charset="-120"/>
              </a:rPr>
              <a:t>●  Writes code in your IDE</a:t>
            </a:r>
            <a:endParaRPr lang="en-US" sz="1300" dirty="0"/>
          </a:p>
        </p:txBody>
      </p:sp>
      <p:sp>
        <p:nvSpPr>
          <p:cNvPr id="5" name="Text 3"/>
          <p:cNvSpPr/>
          <p:nvPr/>
        </p:nvSpPr>
        <p:spPr>
          <a:xfrm>
            <a:off x="1097280" y="1874520"/>
            <a:ext cx="4389120" cy="457200"/>
          </a:xfrm>
          <a:prstGeom prst="rect">
            <a:avLst/>
          </a:prstGeom>
          <a:noFill/>
          <a:ln/>
        </p:spPr>
        <p:txBody>
          <a:bodyPr wrap="square" rtlCol="0" anchor="ctr"/>
          <a:lstStyle/>
          <a:p>
            <a:pPr indent="0" marL="0">
              <a:buNone/>
            </a:pPr>
            <a:r>
              <a:rPr lang="en-US" sz="1300" dirty="0">
                <a:solidFill>
                  <a:srgbClr val="71717A"/>
                </a:solidFill>
                <a:latin typeface="Segoe UI" pitchFamily="34" charset="0"/>
                <a:ea typeface="Segoe UI" pitchFamily="34" charset="-122"/>
                <a:cs typeface="Segoe UI" pitchFamily="34" charset="-120"/>
              </a:rPr>
              <a:t>●  Excellent at that — best in class</a:t>
            </a:r>
            <a:endParaRPr lang="en-US" sz="1300" dirty="0"/>
          </a:p>
        </p:txBody>
      </p:sp>
      <p:sp>
        <p:nvSpPr>
          <p:cNvPr id="6" name="Text 4"/>
          <p:cNvSpPr/>
          <p:nvPr/>
        </p:nvSpPr>
        <p:spPr>
          <a:xfrm>
            <a:off x="1097280" y="2377440"/>
            <a:ext cx="4389120" cy="457200"/>
          </a:xfrm>
          <a:prstGeom prst="rect">
            <a:avLst/>
          </a:prstGeom>
          <a:noFill/>
          <a:ln/>
        </p:spPr>
        <p:txBody>
          <a:bodyPr wrap="square" rtlCol="0" anchor="ctr"/>
          <a:lstStyle/>
          <a:p>
            <a:pPr indent="0" marL="0">
              <a:buNone/>
            </a:pPr>
            <a:r>
              <a:rPr lang="en-US" sz="1300" dirty="0">
                <a:solidFill>
                  <a:srgbClr val="71717A"/>
                </a:solidFill>
                <a:latin typeface="Segoe UI" pitchFamily="34" charset="0"/>
                <a:ea typeface="Segoe UI" pitchFamily="34" charset="-122"/>
                <a:cs typeface="Segoe UI" pitchFamily="34" charset="-120"/>
              </a:rPr>
              <a:t>●  Runs in VS Code / JetBrains</a:t>
            </a:r>
            <a:endParaRPr lang="en-US" sz="1300" dirty="0"/>
          </a:p>
        </p:txBody>
      </p:sp>
      <p:sp>
        <p:nvSpPr>
          <p:cNvPr id="7" name="Text 5"/>
          <p:cNvSpPr/>
          <p:nvPr/>
        </p:nvSpPr>
        <p:spPr>
          <a:xfrm>
            <a:off x="1097280" y="2880360"/>
            <a:ext cx="4389120" cy="457200"/>
          </a:xfrm>
          <a:prstGeom prst="rect">
            <a:avLst/>
          </a:prstGeom>
          <a:noFill/>
          <a:ln/>
        </p:spPr>
        <p:txBody>
          <a:bodyPr wrap="square" rtlCol="0" anchor="ctr"/>
          <a:lstStyle/>
          <a:p>
            <a:pPr indent="0" marL="0">
              <a:buNone/>
            </a:pPr>
            <a:r>
              <a:rPr lang="en-US" sz="1300" dirty="0">
                <a:solidFill>
                  <a:srgbClr val="71717A"/>
                </a:solidFill>
                <a:latin typeface="Segoe UI" pitchFamily="34" charset="0"/>
                <a:ea typeface="Segoe UI" pitchFamily="34" charset="-122"/>
                <a:cs typeface="Segoe UI" pitchFamily="34" charset="-120"/>
              </a:rPr>
              <a:t>●  Session ends when you close the tab</a:t>
            </a:r>
            <a:endParaRPr lang="en-US" sz="1300" dirty="0"/>
          </a:p>
        </p:txBody>
      </p:sp>
      <p:sp>
        <p:nvSpPr>
          <p:cNvPr id="8" name="Text 6"/>
          <p:cNvSpPr/>
          <p:nvPr/>
        </p:nvSpPr>
        <p:spPr>
          <a:xfrm>
            <a:off x="1097280" y="3383280"/>
            <a:ext cx="4389120" cy="457200"/>
          </a:xfrm>
          <a:prstGeom prst="rect">
            <a:avLst/>
          </a:prstGeom>
          <a:noFill/>
          <a:ln/>
        </p:spPr>
        <p:txBody>
          <a:bodyPr wrap="square" rtlCol="0" anchor="ctr"/>
          <a:lstStyle/>
          <a:p>
            <a:pPr indent="0" marL="0">
              <a:buNone/>
            </a:pPr>
            <a:r>
              <a:rPr lang="en-US" sz="1300" dirty="0">
                <a:solidFill>
                  <a:srgbClr val="71717A"/>
                </a:solidFill>
                <a:latin typeface="Segoe UI" pitchFamily="34" charset="0"/>
                <a:ea typeface="Segoe UI" pitchFamily="34" charset="-122"/>
                <a:cs typeface="Segoe UI" pitchFamily="34" charset="-120"/>
              </a:rPr>
              <a:t>●  Single-user, single-session</a:t>
            </a:r>
            <a:endParaRPr lang="en-US" sz="1300" dirty="0"/>
          </a:p>
        </p:txBody>
      </p:sp>
      <p:sp>
        <p:nvSpPr>
          <p:cNvPr id="9" name="Text 7"/>
          <p:cNvSpPr/>
          <p:nvPr/>
        </p:nvSpPr>
        <p:spPr>
          <a:xfrm>
            <a:off x="731520" y="4206240"/>
            <a:ext cx="4846320" cy="457200"/>
          </a:xfrm>
          <a:prstGeom prst="rect">
            <a:avLst/>
          </a:prstGeom>
          <a:noFill/>
          <a:ln/>
        </p:spPr>
        <p:txBody>
          <a:bodyPr wrap="square" rtlCol="0" anchor="ctr"/>
          <a:lstStyle/>
          <a:p>
            <a:pPr algn="ctr" indent="0" marL="0">
              <a:buNone/>
            </a:pPr>
            <a:r>
              <a:rPr lang="en-US" sz="1400" b="1" dirty="0">
                <a:solidFill>
                  <a:srgbClr val="10B981"/>
                </a:solidFill>
                <a:latin typeface="Segoe UI" pitchFamily="34" charset="0"/>
                <a:ea typeface="Segoe UI" pitchFamily="34" charset="-122"/>
                <a:cs typeface="Segoe UI" pitchFamily="34" charset="-120"/>
              </a:rPr>
              <a:t>Your pair programmer.</a:t>
            </a:r>
            <a:endParaRPr lang="en-US" sz="1400" dirty="0"/>
          </a:p>
        </p:txBody>
      </p:sp>
      <p:sp>
        <p:nvSpPr>
          <p:cNvPr id="10" name="Shape 8"/>
          <p:cNvSpPr/>
          <p:nvPr/>
        </p:nvSpPr>
        <p:spPr>
          <a:xfrm>
            <a:off x="6089904" y="731520"/>
            <a:ext cx="0" cy="4754880"/>
          </a:xfrm>
          <a:prstGeom prst="line">
            <a:avLst/>
          </a:prstGeom>
          <a:noFill/>
          <a:ln w="12700">
            <a:solidFill>
              <a:srgbClr val="3F3F46"/>
            </a:solidFill>
            <a:prstDash val="solid"/>
          </a:ln>
        </p:spPr>
      </p:sp>
      <p:sp>
        <p:nvSpPr>
          <p:cNvPr id="11" name="Shape 9"/>
          <p:cNvSpPr/>
          <p:nvPr/>
        </p:nvSpPr>
        <p:spPr>
          <a:xfrm>
            <a:off x="6428232" y="457200"/>
            <a:ext cx="5212080" cy="5303520"/>
          </a:xfrm>
          <a:prstGeom prst="roundRect">
            <a:avLst>
              <a:gd name="adj" fmla="val 2632"/>
            </a:avLst>
          </a:prstGeom>
          <a:solidFill>
            <a:srgbClr val="27272A">
              <a:alpha val="60000"/>
            </a:srgbClr>
          </a:solidFill>
          <a:ln w="12700">
            <a:solidFill>
              <a:srgbClr val="0078D4"/>
            </a:solidFill>
            <a:prstDash val="solid"/>
          </a:ln>
        </p:spPr>
      </p:sp>
      <p:sp>
        <p:nvSpPr>
          <p:cNvPr id="12" name="Text 10"/>
          <p:cNvSpPr/>
          <p:nvPr/>
        </p:nvSpPr>
        <p:spPr>
          <a:xfrm>
            <a:off x="6611112" y="640080"/>
            <a:ext cx="4846320" cy="548640"/>
          </a:xfrm>
          <a:prstGeom prst="rect">
            <a:avLst/>
          </a:prstGeom>
          <a:noFill/>
          <a:ln/>
        </p:spPr>
        <p:txBody>
          <a:bodyPr wrap="square" rtlCol="0" anchor="ctr"/>
          <a:lstStyle/>
          <a:p>
            <a:pPr algn="ctr" indent="0" marL="0">
              <a:buNone/>
            </a:pPr>
            <a:r>
              <a:rPr lang="en-US" sz="2000" b="1" dirty="0">
                <a:solidFill>
                  <a:srgbClr val="50A0E6"/>
                </a:solidFill>
                <a:latin typeface="Segoe UI" pitchFamily="34" charset="0"/>
                <a:ea typeface="Segoe UI" pitchFamily="34" charset="-122"/>
                <a:cs typeface="Segoe UI" pitchFamily="34" charset="-120"/>
              </a:rPr>
              <a:t>Autonomous Agent</a:t>
            </a:r>
            <a:endParaRPr lang="en-US" sz="2000" dirty="0"/>
          </a:p>
        </p:txBody>
      </p:sp>
      <p:sp>
        <p:nvSpPr>
          <p:cNvPr id="13" name="Text 11"/>
          <p:cNvSpPr/>
          <p:nvPr/>
        </p:nvSpPr>
        <p:spPr>
          <a:xfrm>
            <a:off x="6949440" y="1371600"/>
            <a:ext cx="4389120" cy="457200"/>
          </a:xfrm>
          <a:prstGeom prst="rect">
            <a:avLst/>
          </a:prstGeom>
          <a:noFill/>
          <a:ln/>
        </p:spPr>
        <p:txBody>
          <a:bodyPr wrap="square" rtlCol="0" anchor="ctr"/>
          <a:lstStyle/>
          <a:p>
            <a:pPr indent="0" marL="0">
              <a:buNone/>
            </a:pPr>
            <a:r>
              <a:rPr lang="en-US" sz="1300" dirty="0">
                <a:solidFill>
                  <a:srgbClr val="71717A"/>
                </a:solidFill>
                <a:latin typeface="Segoe UI" pitchFamily="34" charset="0"/>
                <a:ea typeface="Segoe UI" pitchFamily="34" charset="-122"/>
                <a:cs typeface="Segoe UI" pitchFamily="34" charset="-120"/>
              </a:rPr>
              <a:t>●  Operates infrastructure, not just code</a:t>
            </a:r>
            <a:endParaRPr lang="en-US" sz="1300" dirty="0"/>
          </a:p>
        </p:txBody>
      </p:sp>
      <p:sp>
        <p:nvSpPr>
          <p:cNvPr id="14" name="Text 12"/>
          <p:cNvSpPr/>
          <p:nvPr/>
        </p:nvSpPr>
        <p:spPr>
          <a:xfrm>
            <a:off x="6949440" y="1874520"/>
            <a:ext cx="4389120" cy="457200"/>
          </a:xfrm>
          <a:prstGeom prst="rect">
            <a:avLst/>
          </a:prstGeom>
          <a:noFill/>
          <a:ln/>
        </p:spPr>
        <p:txBody>
          <a:bodyPr wrap="square" rtlCol="0" anchor="ctr"/>
          <a:lstStyle/>
          <a:p>
            <a:pPr indent="0" marL="0">
              <a:buNone/>
            </a:pPr>
            <a:r>
              <a:rPr lang="en-US" sz="1300" dirty="0">
                <a:solidFill>
                  <a:srgbClr val="71717A"/>
                </a:solidFill>
                <a:latin typeface="Segoe UI" pitchFamily="34" charset="0"/>
                <a:ea typeface="Segoe UI" pitchFamily="34" charset="-122"/>
                <a:cs typeface="Segoe UI" pitchFamily="34" charset="-120"/>
              </a:rPr>
              <a:t>●  Deploys from Telegram, Teams, WhatsApp</a:t>
            </a:r>
            <a:endParaRPr lang="en-US" sz="1300" dirty="0"/>
          </a:p>
        </p:txBody>
      </p:sp>
      <p:sp>
        <p:nvSpPr>
          <p:cNvPr id="15" name="Text 13"/>
          <p:cNvSpPr/>
          <p:nvPr/>
        </p:nvSpPr>
        <p:spPr>
          <a:xfrm>
            <a:off x="6949440" y="2377440"/>
            <a:ext cx="4389120" cy="457200"/>
          </a:xfrm>
          <a:prstGeom prst="rect">
            <a:avLst/>
          </a:prstGeom>
          <a:noFill/>
          <a:ln/>
        </p:spPr>
        <p:txBody>
          <a:bodyPr wrap="square" rtlCol="0" anchor="ctr"/>
          <a:lstStyle/>
          <a:p>
            <a:pPr indent="0" marL="0">
              <a:buNone/>
            </a:pPr>
            <a:r>
              <a:rPr lang="en-US" sz="1300" dirty="0">
                <a:solidFill>
                  <a:srgbClr val="71717A"/>
                </a:solidFill>
                <a:latin typeface="Segoe UI" pitchFamily="34" charset="0"/>
                <a:ea typeface="Segoe UI" pitchFamily="34" charset="-122"/>
                <a:cs typeface="Segoe UI" pitchFamily="34" charset="-120"/>
              </a:rPr>
              <a:t>●  Responds to 3 AM incidents from your phone</a:t>
            </a:r>
            <a:endParaRPr lang="en-US" sz="1300" dirty="0"/>
          </a:p>
        </p:txBody>
      </p:sp>
      <p:sp>
        <p:nvSpPr>
          <p:cNvPr id="16" name="Text 14"/>
          <p:cNvSpPr/>
          <p:nvPr/>
        </p:nvSpPr>
        <p:spPr>
          <a:xfrm>
            <a:off x="6949440" y="2880360"/>
            <a:ext cx="4389120" cy="457200"/>
          </a:xfrm>
          <a:prstGeom prst="rect">
            <a:avLst/>
          </a:prstGeom>
          <a:noFill/>
          <a:ln/>
        </p:spPr>
        <p:txBody>
          <a:bodyPr wrap="square" rtlCol="0" anchor="ctr"/>
          <a:lstStyle/>
          <a:p>
            <a:pPr indent="0" marL="0">
              <a:buNone/>
            </a:pPr>
            <a:r>
              <a:rPr lang="en-US" sz="1300" dirty="0">
                <a:solidFill>
                  <a:srgbClr val="71717A"/>
                </a:solidFill>
                <a:latin typeface="Segoe UI" pitchFamily="34" charset="0"/>
                <a:ea typeface="Segoe UI" pitchFamily="34" charset="-122"/>
                <a:cs typeface="Segoe UI" pitchFamily="34" charset="-120"/>
              </a:rPr>
              <a:t>●  Runs 13 cron jobs: costs, email, GitHub, monitoring</a:t>
            </a:r>
            <a:endParaRPr lang="en-US" sz="1300" dirty="0"/>
          </a:p>
        </p:txBody>
      </p:sp>
      <p:sp>
        <p:nvSpPr>
          <p:cNvPr id="17" name="Text 15"/>
          <p:cNvSpPr/>
          <p:nvPr/>
        </p:nvSpPr>
        <p:spPr>
          <a:xfrm>
            <a:off x="6949440" y="3383280"/>
            <a:ext cx="4389120" cy="457200"/>
          </a:xfrm>
          <a:prstGeom prst="rect">
            <a:avLst/>
          </a:prstGeom>
          <a:noFill/>
          <a:ln/>
        </p:spPr>
        <p:txBody>
          <a:bodyPr wrap="square" rtlCol="0" anchor="ctr"/>
          <a:lstStyle/>
          <a:p>
            <a:pPr indent="0" marL="0">
              <a:buNone/>
            </a:pPr>
            <a:r>
              <a:rPr lang="en-US" sz="1300" dirty="0">
                <a:solidFill>
                  <a:srgbClr val="71717A"/>
                </a:solidFill>
                <a:latin typeface="Segoe UI" pitchFamily="34" charset="0"/>
                <a:ea typeface="Segoe UI" pitchFamily="34" charset="-122"/>
                <a:cs typeface="Segoe UI" pitchFamily="34" charset="-120"/>
              </a:rPr>
              <a:t>●  Memory across sessions — learns your environment</a:t>
            </a:r>
            <a:endParaRPr lang="en-US" sz="1300" dirty="0"/>
          </a:p>
        </p:txBody>
      </p:sp>
      <p:sp>
        <p:nvSpPr>
          <p:cNvPr id="18" name="Text 16"/>
          <p:cNvSpPr/>
          <p:nvPr/>
        </p:nvSpPr>
        <p:spPr>
          <a:xfrm>
            <a:off x="6611112" y="4206240"/>
            <a:ext cx="4846320" cy="457200"/>
          </a:xfrm>
          <a:prstGeom prst="rect">
            <a:avLst/>
          </a:prstGeom>
          <a:noFill/>
          <a:ln/>
        </p:spPr>
        <p:txBody>
          <a:bodyPr wrap="square" rtlCol="0" anchor="ctr"/>
          <a:lstStyle/>
          <a:p>
            <a:pPr algn="ctr" indent="0" marL="0">
              <a:buNone/>
            </a:pPr>
            <a:r>
              <a:rPr lang="en-US" sz="1400" b="1" dirty="0">
                <a:solidFill>
                  <a:srgbClr val="50A0E6"/>
                </a:solidFill>
                <a:latin typeface="Segoe UI" pitchFamily="34" charset="0"/>
                <a:ea typeface="Segoe UI" pitchFamily="34" charset="-122"/>
                <a:cs typeface="Segoe UI" pitchFamily="34" charset="-120"/>
              </a:rPr>
              <a:t>Your SRE that never sleeps.</a:t>
            </a:r>
            <a:endParaRPr lang="en-US" sz="1400" dirty="0"/>
          </a:p>
        </p:txBody>
      </p:sp>
      <p:sp>
        <p:nvSpPr>
          <p:cNvPr id="19" name="Text 17"/>
          <p:cNvSpPr/>
          <p:nvPr/>
        </p:nvSpPr>
        <p:spPr>
          <a:xfrm>
            <a:off x="0" y="5760720"/>
            <a:ext cx="12192000" cy="640080"/>
          </a:xfrm>
          <a:prstGeom prst="rect">
            <a:avLst/>
          </a:prstGeom>
          <a:noFill/>
          <a:ln/>
        </p:spPr>
        <p:txBody>
          <a:bodyPr wrap="square" rtlCol="0" anchor="ctr"/>
          <a:lstStyle/>
          <a:p>
            <a:pPr algn="ctr" indent="0" marL="0">
              <a:lnSpc>
                <a:spcPct val="130000"/>
              </a:lnSpc>
              <a:buNone/>
            </a:pPr>
            <a:r>
              <a:rPr lang="en-US" sz="1400" dirty="0">
                <a:solidFill>
                  <a:srgbClr val="71717A"/>
                </a:solidFill>
                <a:latin typeface="Segoe UI" pitchFamily="34" charset="0"/>
                <a:ea typeface="Segoe UI" pitchFamily="34" charset="-122"/>
                <a:cs typeface="Segoe UI" pitchFamily="34" charset="-120"/>
              </a:rPr>
              <a:t>This isn't either/or — it's </a:t>
            </a:r>
            <a:pPr algn="ctr" indent="0" marL="0">
              <a:lnSpc>
                <a:spcPct val="130000"/>
              </a:lnSpc>
              <a:buNone/>
            </a:pPr>
            <a:r>
              <a:rPr lang="en-US" sz="1400" b="1" dirty="0">
                <a:solidFill>
                  <a:srgbClr val="FFFFFF"/>
                </a:solidFill>
                <a:latin typeface="Segoe UI" pitchFamily="34" charset="0"/>
                <a:ea typeface="Segoe UI" pitchFamily="34" charset="-122"/>
                <a:cs typeface="Segoe UI" pitchFamily="34" charset="-120"/>
              </a:rPr>
              <a:t>both</a:t>
            </a:r>
            <a:pPr algn="ctr" indent="0" marL="0">
              <a:lnSpc>
                <a:spcPct val="130000"/>
              </a:lnSpc>
              <a:buNone/>
            </a:pPr>
            <a:r>
              <a:rPr lang="en-US" sz="1400" dirty="0">
                <a:solidFill>
                  <a:srgbClr val="71717A"/>
                </a:solidFill>
                <a:latin typeface="Segoe UI" pitchFamily="34" charset="0"/>
                <a:ea typeface="Segoe UI" pitchFamily="34" charset="-122"/>
                <a:cs typeface="Segoe UI" pitchFamily="34" charset="-120"/>
              </a:rPr>
              <a:t>.</a:t>
            </a:r>
            <a:endParaRPr lang="en-US" sz="1400" dirty="0"/>
          </a:p>
          <a:p>
            <a:pPr algn="ctr" indent="0" marL="0">
              <a:lnSpc>
                <a:spcPct val="130000"/>
              </a:lnSpc>
              <a:buNone/>
            </a:pPr>
            <a:r>
              <a:rPr lang="en-US" sz="1400" dirty="0">
                <a:solidFill>
                  <a:srgbClr val="71717A"/>
                </a:solidFill>
                <a:latin typeface="Segoe UI" pitchFamily="34" charset="0"/>
                <a:ea typeface="Segoe UI" pitchFamily="34" charset="-122"/>
                <a:cs typeface="Segoe UI" pitchFamily="34" charset="-120"/>
              </a:rPr>
              <a:t>GHCP for code. Agents for everything else.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274320"/>
            <a:ext cx="12192000" cy="320040"/>
          </a:xfrm>
          <a:prstGeom prst="rect">
            <a:avLst/>
          </a:prstGeom>
          <a:noFill/>
          <a:ln/>
        </p:spPr>
        <p:txBody>
          <a:bodyPr wrap="square" rtlCol="0" anchor="ctr"/>
          <a:lstStyle/>
          <a:p>
            <a:pPr algn="ctr" indent="0" marL="0">
              <a:buNone/>
            </a:pPr>
            <a:r>
              <a:rPr lang="en-US" sz="1100" b="1" dirty="0">
                <a:solidFill>
                  <a:srgbClr val="50A0E6"/>
                </a:solidFill>
                <a:latin typeface="Segoe UI" pitchFamily="34" charset="0"/>
                <a:ea typeface="Segoe UI" pitchFamily="34" charset="-122"/>
                <a:cs typeface="Segoe UI" pitchFamily="34" charset="-120"/>
              </a:rPr>
              <a:t>Honest, Not Hype</a:t>
            </a:r>
            <a:endParaRPr lang="en-US" sz="1100" dirty="0"/>
          </a:p>
        </p:txBody>
      </p:sp>
      <p:sp>
        <p:nvSpPr>
          <p:cNvPr id="3" name="Text 1"/>
          <p:cNvSpPr/>
          <p:nvPr/>
        </p:nvSpPr>
        <p:spPr>
          <a:xfrm>
            <a:off x="0" y="594360"/>
            <a:ext cx="12192000" cy="640080"/>
          </a:xfrm>
          <a:prstGeom prst="rect">
            <a:avLst/>
          </a:prstGeom>
          <a:noFill/>
          <a:ln/>
        </p:spPr>
        <p:txBody>
          <a:bodyPr wrap="square" rtlCol="0" anchor="ctr"/>
          <a:lstStyle/>
          <a:p>
            <a:pPr algn="ctr" indent="0" marL="0">
              <a:buNone/>
            </a:pPr>
            <a:r>
              <a:rPr lang="en-US" sz="3000" b="1" dirty="0">
                <a:solidFill>
                  <a:srgbClr val="FFFFFF"/>
                </a:solidFill>
                <a:latin typeface="Segoe UI" pitchFamily="34" charset="0"/>
                <a:ea typeface="Segoe UI" pitchFamily="34" charset="-122"/>
                <a:cs typeface="Segoe UI" pitchFamily="34" charset="-120"/>
              </a:rPr>
              <a:t>What is </a:t>
            </a:r>
            <a:pPr algn="ctr" indent="0" marL="0">
              <a:buNone/>
            </a:pPr>
            <a:r>
              <a:rPr lang="en-US" sz="3000" b="1" dirty="0">
                <a:solidFill>
                  <a:srgbClr val="50A0E6"/>
                </a:solidFill>
                <a:latin typeface="Segoe UI" pitchFamily="34" charset="0"/>
                <a:ea typeface="Segoe UI" pitchFamily="34" charset="-122"/>
                <a:cs typeface="Segoe UI" pitchFamily="34" charset="-120"/>
              </a:rPr>
              <a:t>OpenClaw</a:t>
            </a:r>
            <a:pPr algn="ctr" indent="0" marL="0">
              <a:buNone/>
            </a:pPr>
            <a:r>
              <a:rPr lang="en-US" sz="3000" b="1" dirty="0">
                <a:solidFill>
                  <a:srgbClr val="FFFFFF"/>
                </a:solidFill>
                <a:latin typeface="Segoe UI" pitchFamily="34" charset="0"/>
                <a:ea typeface="Segoe UI" pitchFamily="34" charset="-122"/>
                <a:cs typeface="Segoe UI" pitchFamily="34" charset="-120"/>
              </a:rPr>
              <a:t>?</a:t>
            </a:r>
            <a:endParaRPr lang="en-US" sz="3000" dirty="0"/>
          </a:p>
        </p:txBody>
      </p:sp>
      <p:sp>
        <p:nvSpPr>
          <p:cNvPr id="4" name="Shape 2"/>
          <p:cNvSpPr/>
          <p:nvPr/>
        </p:nvSpPr>
        <p:spPr>
          <a:xfrm>
            <a:off x="731520" y="1463040"/>
            <a:ext cx="3291840" cy="1828800"/>
          </a:xfrm>
          <a:prstGeom prst="roundRect">
            <a:avLst>
              <a:gd name="adj" fmla="val 6000"/>
            </a:avLst>
          </a:prstGeom>
          <a:solidFill>
            <a:srgbClr val="27272A">
              <a:alpha val="60000"/>
            </a:srgbClr>
          </a:solidFill>
          <a:ln w="12700">
            <a:solidFill>
              <a:srgbClr val="3F3F46"/>
            </a:solidFill>
            <a:prstDash val="solid"/>
          </a:ln>
        </p:spPr>
      </p:sp>
      <p:sp>
        <p:nvSpPr>
          <p:cNvPr id="5" name="Text 3"/>
          <p:cNvSpPr/>
          <p:nvPr/>
        </p:nvSpPr>
        <p:spPr>
          <a:xfrm>
            <a:off x="914400" y="1600200"/>
            <a:ext cx="292608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 Open Source</a:t>
            </a:r>
            <a:endParaRPr lang="en-US" sz="1400" dirty="0"/>
          </a:p>
        </p:txBody>
      </p:sp>
      <p:sp>
        <p:nvSpPr>
          <p:cNvPr id="6" name="Text 4"/>
          <p:cNvSpPr/>
          <p:nvPr/>
        </p:nvSpPr>
        <p:spPr>
          <a:xfrm>
            <a:off x="914400" y="2057400"/>
            <a:ext cx="2926080" cy="100584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Self-hosted. Your credentials.</a:t>
            </a:r>
            <a:endParaRPr lang="en-US" sz="1100" dirty="0"/>
          </a:p>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No vendor lock-in.</a:t>
            </a:r>
            <a:endParaRPr lang="en-US" sz="1100" dirty="0"/>
          </a:p>
        </p:txBody>
      </p:sp>
      <p:sp>
        <p:nvSpPr>
          <p:cNvPr id="7" name="Shape 5"/>
          <p:cNvSpPr/>
          <p:nvPr/>
        </p:nvSpPr>
        <p:spPr>
          <a:xfrm>
            <a:off x="4389120" y="1463040"/>
            <a:ext cx="3291840" cy="1828800"/>
          </a:xfrm>
          <a:prstGeom prst="roundRect">
            <a:avLst>
              <a:gd name="adj" fmla="val 6000"/>
            </a:avLst>
          </a:prstGeom>
          <a:solidFill>
            <a:srgbClr val="27272A">
              <a:alpha val="60000"/>
            </a:srgbClr>
          </a:solidFill>
          <a:ln w="12700">
            <a:solidFill>
              <a:srgbClr val="3F3F46"/>
            </a:solidFill>
            <a:prstDash val="solid"/>
          </a:ln>
        </p:spPr>
      </p:sp>
      <p:sp>
        <p:nvSpPr>
          <p:cNvPr id="8" name="Text 6"/>
          <p:cNvSpPr/>
          <p:nvPr/>
        </p:nvSpPr>
        <p:spPr>
          <a:xfrm>
            <a:off x="4572000" y="1600200"/>
            <a:ext cx="292608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 Multi-Channel</a:t>
            </a:r>
            <a:endParaRPr lang="en-US" sz="1400" dirty="0"/>
          </a:p>
        </p:txBody>
      </p:sp>
      <p:sp>
        <p:nvSpPr>
          <p:cNvPr id="9" name="Text 7"/>
          <p:cNvSpPr/>
          <p:nvPr/>
        </p:nvSpPr>
        <p:spPr>
          <a:xfrm>
            <a:off x="4572000" y="2057400"/>
            <a:ext cx="2926080" cy="100584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Telegram, Teams, Discord,</a:t>
            </a:r>
            <a:endParaRPr lang="en-US" sz="1100" dirty="0"/>
          </a:p>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WhatsApp, CLI.</a:t>
            </a:r>
            <a:endParaRPr lang="en-US" sz="1100" dirty="0"/>
          </a:p>
        </p:txBody>
      </p:sp>
      <p:sp>
        <p:nvSpPr>
          <p:cNvPr id="10" name="Shape 8"/>
          <p:cNvSpPr/>
          <p:nvPr/>
        </p:nvSpPr>
        <p:spPr>
          <a:xfrm>
            <a:off x="8046720" y="1463040"/>
            <a:ext cx="3291840" cy="1828800"/>
          </a:xfrm>
          <a:prstGeom prst="roundRect">
            <a:avLst>
              <a:gd name="adj" fmla="val 6000"/>
            </a:avLst>
          </a:prstGeom>
          <a:solidFill>
            <a:srgbClr val="27272A">
              <a:alpha val="60000"/>
            </a:srgbClr>
          </a:solidFill>
          <a:ln w="12700">
            <a:solidFill>
              <a:srgbClr val="3F3F46"/>
            </a:solidFill>
            <a:prstDash val="solid"/>
          </a:ln>
        </p:spPr>
      </p:sp>
      <p:sp>
        <p:nvSpPr>
          <p:cNvPr id="11" name="Text 9"/>
          <p:cNvSpPr/>
          <p:nvPr/>
        </p:nvSpPr>
        <p:spPr>
          <a:xfrm>
            <a:off x="8229600" y="1600200"/>
            <a:ext cx="292608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 Authenticated</a:t>
            </a:r>
            <a:endParaRPr lang="en-US" sz="1400" dirty="0"/>
          </a:p>
        </p:txBody>
      </p:sp>
      <p:sp>
        <p:nvSpPr>
          <p:cNvPr id="12" name="Text 10"/>
          <p:cNvSpPr/>
          <p:nvPr/>
        </p:nvSpPr>
        <p:spPr>
          <a:xfrm>
            <a:off x="8229600" y="2057400"/>
            <a:ext cx="2926080" cy="100584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Real Azure CLI, GitHub,</a:t>
            </a:r>
            <a:endParaRPr lang="en-US" sz="1100" dirty="0"/>
          </a:p>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Graph API access.</a:t>
            </a:r>
            <a:endParaRPr lang="en-US" sz="1100" dirty="0"/>
          </a:p>
        </p:txBody>
      </p:sp>
      <p:sp>
        <p:nvSpPr>
          <p:cNvPr id="13" name="Shape 11"/>
          <p:cNvSpPr/>
          <p:nvPr/>
        </p:nvSpPr>
        <p:spPr>
          <a:xfrm>
            <a:off x="731520" y="3749040"/>
            <a:ext cx="3291840" cy="1828800"/>
          </a:xfrm>
          <a:prstGeom prst="roundRect">
            <a:avLst>
              <a:gd name="adj" fmla="val 6000"/>
            </a:avLst>
          </a:prstGeom>
          <a:solidFill>
            <a:srgbClr val="27272A">
              <a:alpha val="60000"/>
            </a:srgbClr>
          </a:solidFill>
          <a:ln w="12700">
            <a:solidFill>
              <a:srgbClr val="3F3F46"/>
            </a:solidFill>
            <a:prstDash val="solid"/>
          </a:ln>
        </p:spPr>
      </p:sp>
      <p:sp>
        <p:nvSpPr>
          <p:cNvPr id="14" name="Text 12"/>
          <p:cNvSpPr/>
          <p:nvPr/>
        </p:nvSpPr>
        <p:spPr>
          <a:xfrm>
            <a:off x="914400" y="3886200"/>
            <a:ext cx="292608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 Memory</a:t>
            </a:r>
            <a:endParaRPr lang="en-US" sz="1400" dirty="0"/>
          </a:p>
        </p:txBody>
      </p:sp>
      <p:sp>
        <p:nvSpPr>
          <p:cNvPr id="15" name="Text 13"/>
          <p:cNvSpPr/>
          <p:nvPr/>
        </p:nvSpPr>
        <p:spPr>
          <a:xfrm>
            <a:off x="914400" y="4343400"/>
            <a:ext cx="2926080" cy="100584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Context continuity across</a:t>
            </a:r>
            <a:endParaRPr lang="en-US" sz="1100" dirty="0"/>
          </a:p>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sessions. Learns your env.</a:t>
            </a:r>
            <a:endParaRPr lang="en-US" sz="1100" dirty="0"/>
          </a:p>
        </p:txBody>
      </p:sp>
      <p:sp>
        <p:nvSpPr>
          <p:cNvPr id="16" name="Shape 14"/>
          <p:cNvSpPr/>
          <p:nvPr/>
        </p:nvSpPr>
        <p:spPr>
          <a:xfrm>
            <a:off x="4389120" y="3749040"/>
            <a:ext cx="3291840" cy="1828800"/>
          </a:xfrm>
          <a:prstGeom prst="roundRect">
            <a:avLst>
              <a:gd name="adj" fmla="val 6000"/>
            </a:avLst>
          </a:prstGeom>
          <a:solidFill>
            <a:srgbClr val="27272A">
              <a:alpha val="60000"/>
            </a:srgbClr>
          </a:solidFill>
          <a:ln w="12700">
            <a:solidFill>
              <a:srgbClr val="3F3F46"/>
            </a:solidFill>
            <a:prstDash val="solid"/>
          </a:ln>
        </p:spPr>
      </p:sp>
      <p:sp>
        <p:nvSpPr>
          <p:cNvPr id="17" name="Text 15"/>
          <p:cNvSpPr/>
          <p:nvPr/>
        </p:nvSpPr>
        <p:spPr>
          <a:xfrm>
            <a:off x="4572000" y="3886200"/>
            <a:ext cx="292608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 Proactive</a:t>
            </a:r>
            <a:endParaRPr lang="en-US" sz="1400" dirty="0"/>
          </a:p>
        </p:txBody>
      </p:sp>
      <p:sp>
        <p:nvSpPr>
          <p:cNvPr id="18" name="Text 16"/>
          <p:cNvSpPr/>
          <p:nvPr/>
        </p:nvSpPr>
        <p:spPr>
          <a:xfrm>
            <a:off x="4572000" y="4343400"/>
            <a:ext cx="2926080" cy="100584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Cron jobs, heartbeats,</a:t>
            </a:r>
            <a:endParaRPr lang="en-US" sz="1100" dirty="0"/>
          </a:p>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scheduled monitoring.</a:t>
            </a:r>
            <a:endParaRPr lang="en-US" sz="1100" dirty="0"/>
          </a:p>
        </p:txBody>
      </p:sp>
      <p:sp>
        <p:nvSpPr>
          <p:cNvPr id="19" name="Shape 17"/>
          <p:cNvSpPr/>
          <p:nvPr/>
        </p:nvSpPr>
        <p:spPr>
          <a:xfrm>
            <a:off x="8046720" y="3749040"/>
            <a:ext cx="3291840" cy="1828800"/>
          </a:xfrm>
          <a:prstGeom prst="roundRect">
            <a:avLst>
              <a:gd name="adj" fmla="val 6000"/>
            </a:avLst>
          </a:prstGeom>
          <a:solidFill>
            <a:srgbClr val="27272A">
              <a:alpha val="60000"/>
            </a:srgbClr>
          </a:solidFill>
          <a:ln w="12700">
            <a:solidFill>
              <a:srgbClr val="3F3F46"/>
            </a:solidFill>
            <a:prstDash val="solid"/>
          </a:ln>
        </p:spPr>
      </p:sp>
      <p:sp>
        <p:nvSpPr>
          <p:cNvPr id="20" name="Text 18"/>
          <p:cNvSpPr/>
          <p:nvPr/>
        </p:nvSpPr>
        <p:spPr>
          <a:xfrm>
            <a:off x="8229600" y="3886200"/>
            <a:ext cx="2926080" cy="41148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 Extensible</a:t>
            </a:r>
            <a:endParaRPr lang="en-US" sz="1400" dirty="0"/>
          </a:p>
        </p:txBody>
      </p:sp>
      <p:sp>
        <p:nvSpPr>
          <p:cNvPr id="21" name="Text 19"/>
          <p:cNvSpPr/>
          <p:nvPr/>
        </p:nvSpPr>
        <p:spPr>
          <a:xfrm>
            <a:off x="8229600" y="4343400"/>
            <a:ext cx="2926080" cy="100584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Skills marketplace.</a:t>
            </a:r>
            <a:endParaRPr lang="en-US" sz="1100" dirty="0"/>
          </a:p>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Write &amp; share your own.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640080"/>
            <a:ext cx="12192000" cy="640080"/>
          </a:xfrm>
          <a:prstGeom prst="rect">
            <a:avLst/>
          </a:prstGeom>
          <a:noFill/>
          <a:ln/>
        </p:spPr>
        <p:txBody>
          <a:bodyPr wrap="square" rtlCol="0" anchor="ctr"/>
          <a:lstStyle/>
          <a:p>
            <a:pPr algn="ctr" indent="0" marL="0">
              <a:buNone/>
            </a:pPr>
            <a:r>
              <a:rPr lang="en-US" sz="3000" b="1" dirty="0">
                <a:solidFill>
                  <a:srgbClr val="FFFFFF"/>
                </a:solidFill>
                <a:latin typeface="Segoe UI" pitchFamily="34" charset="0"/>
                <a:ea typeface="Segoe UI" pitchFamily="34" charset="-122"/>
                <a:cs typeface="Segoe UI" pitchFamily="34" charset="-120"/>
              </a:rPr>
              <a:t>What OpenClaw is </a:t>
            </a:r>
            <a:pPr algn="ctr" indent="0" marL="0">
              <a:buNone/>
            </a:pPr>
            <a:r>
              <a:rPr lang="en-US" sz="3000" b="1" dirty="0">
                <a:solidFill>
                  <a:srgbClr val="EF4444"/>
                </a:solidFill>
                <a:latin typeface="Segoe UI" pitchFamily="34" charset="0"/>
                <a:ea typeface="Segoe UI" pitchFamily="34" charset="-122"/>
                <a:cs typeface="Segoe UI" pitchFamily="34" charset="-120"/>
              </a:rPr>
              <a:t>NOT</a:t>
            </a:r>
            <a:pPr algn="ctr" indent="0" marL="0">
              <a:buNone/>
            </a:pPr>
            <a:r>
              <a:rPr lang="en-US" sz="3000" b="1" dirty="0">
                <a:solidFill>
                  <a:srgbClr val="FFFFFF"/>
                </a:solidFill>
                <a:latin typeface="Segoe UI" pitchFamily="34" charset="0"/>
                <a:ea typeface="Segoe UI" pitchFamily="34" charset="-122"/>
                <a:cs typeface="Segoe UI" pitchFamily="34" charset="-120"/>
              </a:rPr>
              <a:t>.</a:t>
            </a:r>
            <a:endParaRPr lang="en-US" sz="3000" dirty="0"/>
          </a:p>
        </p:txBody>
      </p:sp>
      <p:sp>
        <p:nvSpPr>
          <p:cNvPr id="3" name="Text 1"/>
          <p:cNvSpPr/>
          <p:nvPr/>
        </p:nvSpPr>
        <p:spPr>
          <a:xfrm>
            <a:off x="2286000" y="1645920"/>
            <a:ext cx="7616952" cy="502920"/>
          </a:xfrm>
          <a:prstGeom prst="rect">
            <a:avLst/>
          </a:prstGeom>
          <a:noFill/>
          <a:ln/>
        </p:spPr>
        <p:txBody>
          <a:bodyPr wrap="square" rtlCol="0" anchor="ctr"/>
          <a:lstStyle/>
          <a:p>
            <a:pPr indent="0" marL="0">
              <a:buNone/>
            </a:pPr>
            <a:r>
              <a:rPr lang="en-US" sz="1500" dirty="0">
                <a:solidFill>
                  <a:srgbClr val="71717A"/>
                </a:solidFill>
                <a:latin typeface="Segoe UI" pitchFamily="34" charset="0"/>
                <a:ea typeface="Segoe UI" pitchFamily="34" charset="-122"/>
                <a:cs typeface="Segoe UI" pitchFamily="34" charset="-120"/>
              </a:rPr>
              <a:t>●  Not production-ready enterprise software</a:t>
            </a:r>
            <a:endParaRPr lang="en-US" sz="1500" dirty="0"/>
          </a:p>
        </p:txBody>
      </p:sp>
      <p:sp>
        <p:nvSpPr>
          <p:cNvPr id="4" name="Text 2"/>
          <p:cNvSpPr/>
          <p:nvPr/>
        </p:nvSpPr>
        <p:spPr>
          <a:xfrm>
            <a:off x="2286000" y="2240280"/>
            <a:ext cx="7616952" cy="502920"/>
          </a:xfrm>
          <a:prstGeom prst="rect">
            <a:avLst/>
          </a:prstGeom>
          <a:noFill/>
          <a:ln/>
        </p:spPr>
        <p:txBody>
          <a:bodyPr wrap="square" rtlCol="0" anchor="ctr"/>
          <a:lstStyle/>
          <a:p>
            <a:pPr indent="0" marL="0">
              <a:buNone/>
            </a:pPr>
            <a:r>
              <a:rPr lang="en-US" sz="1500" dirty="0">
                <a:solidFill>
                  <a:srgbClr val="71717A"/>
                </a:solidFill>
                <a:latin typeface="Segoe UI" pitchFamily="34" charset="0"/>
                <a:ea typeface="Segoe UI" pitchFamily="34" charset="-122"/>
                <a:cs typeface="Segoe UI" pitchFamily="34" charset="-120"/>
              </a:rPr>
              <a:t>●  Not trying to replace GitHub Copilot</a:t>
            </a:r>
            <a:endParaRPr lang="en-US" sz="1500" dirty="0"/>
          </a:p>
        </p:txBody>
      </p:sp>
      <p:sp>
        <p:nvSpPr>
          <p:cNvPr id="5" name="Text 3"/>
          <p:cNvSpPr/>
          <p:nvPr/>
        </p:nvSpPr>
        <p:spPr>
          <a:xfrm>
            <a:off x="2286000" y="2834640"/>
            <a:ext cx="7616952" cy="502920"/>
          </a:xfrm>
          <a:prstGeom prst="rect">
            <a:avLst/>
          </a:prstGeom>
          <a:noFill/>
          <a:ln/>
        </p:spPr>
        <p:txBody>
          <a:bodyPr wrap="square" rtlCol="0" anchor="ctr"/>
          <a:lstStyle/>
          <a:p>
            <a:pPr indent="0" marL="0">
              <a:buNone/>
            </a:pPr>
            <a:r>
              <a:rPr lang="en-US" sz="1500" dirty="0">
                <a:solidFill>
                  <a:srgbClr val="71717A"/>
                </a:solidFill>
                <a:latin typeface="Segoe UI" pitchFamily="34" charset="0"/>
                <a:ea typeface="Segoe UI" pitchFamily="34" charset="-122"/>
                <a:cs typeface="Segoe UI" pitchFamily="34" charset="-120"/>
              </a:rPr>
              <a:t>●  Not a Microsoft product</a:t>
            </a:r>
            <a:endParaRPr lang="en-US" sz="1500" dirty="0"/>
          </a:p>
        </p:txBody>
      </p:sp>
      <p:sp>
        <p:nvSpPr>
          <p:cNvPr id="6" name="Text 4"/>
          <p:cNvSpPr/>
          <p:nvPr/>
        </p:nvSpPr>
        <p:spPr>
          <a:xfrm>
            <a:off x="2286000" y="3429000"/>
            <a:ext cx="7616952" cy="502920"/>
          </a:xfrm>
          <a:prstGeom prst="rect">
            <a:avLst/>
          </a:prstGeom>
          <a:noFill/>
          <a:ln/>
        </p:spPr>
        <p:txBody>
          <a:bodyPr wrap="square" rtlCol="0" anchor="ctr"/>
          <a:lstStyle/>
          <a:p>
            <a:pPr indent="0" marL="0">
              <a:buNone/>
            </a:pPr>
            <a:r>
              <a:rPr lang="en-US" sz="1500" dirty="0">
                <a:solidFill>
                  <a:srgbClr val="71717A"/>
                </a:solidFill>
                <a:latin typeface="Segoe UI" pitchFamily="34" charset="0"/>
                <a:ea typeface="Segoe UI" pitchFamily="34" charset="-122"/>
                <a:cs typeface="Segoe UI" pitchFamily="34" charset="-120"/>
              </a:rPr>
              <a:t>●  Not magic — it makes mistakes, hallucinates, needs guardrails</a:t>
            </a:r>
            <a:endParaRPr lang="en-US" sz="1500" dirty="0"/>
          </a:p>
        </p:txBody>
      </p:sp>
      <p:sp>
        <p:nvSpPr>
          <p:cNvPr id="7" name="Text 5"/>
          <p:cNvSpPr/>
          <p:nvPr/>
        </p:nvSpPr>
        <p:spPr>
          <a:xfrm>
            <a:off x="0" y="4114800"/>
            <a:ext cx="12192000" cy="914400"/>
          </a:xfrm>
          <a:prstGeom prst="rect">
            <a:avLst/>
          </a:prstGeom>
          <a:noFill/>
          <a:ln/>
        </p:spPr>
        <p:txBody>
          <a:bodyPr wrap="square" rtlCol="0" anchor="ctr"/>
          <a:lstStyle/>
          <a:p>
            <a:pPr algn="ctr" indent="0" marL="0">
              <a:lnSpc>
                <a:spcPct val="140000"/>
              </a:lnSpc>
              <a:buNone/>
            </a:pPr>
            <a:r>
              <a:rPr lang="en-US" sz="1600" dirty="0">
                <a:solidFill>
                  <a:srgbClr val="71717A"/>
                </a:solidFill>
                <a:latin typeface="Segoe UI" pitchFamily="34" charset="0"/>
                <a:ea typeface="Segoe UI" pitchFamily="34" charset="-122"/>
                <a:cs typeface="Segoe UI" pitchFamily="34" charset="-120"/>
              </a:rPr>
              <a:t>It's a </a:t>
            </a:r>
            <a:pPr algn="ctr" indent="0" marL="0">
              <a:lnSpc>
                <a:spcPct val="140000"/>
              </a:lnSpc>
              <a:buNone/>
            </a:pPr>
            <a:r>
              <a:rPr lang="en-US" sz="1600" b="1" dirty="0">
                <a:solidFill>
                  <a:srgbClr val="FFFFFF"/>
                </a:solidFill>
                <a:latin typeface="Segoe UI" pitchFamily="34" charset="0"/>
                <a:ea typeface="Segoe UI" pitchFamily="34" charset="-122"/>
                <a:cs typeface="Segoe UI" pitchFamily="34" charset="-120"/>
              </a:rPr>
              <a:t>pattern</a:t>
            </a:r>
            <a:pPr algn="ctr" indent="0" marL="0">
              <a:lnSpc>
                <a:spcPct val="140000"/>
              </a:lnSpc>
              <a:buNone/>
            </a:pPr>
            <a:r>
              <a:rPr lang="en-US" sz="1600" dirty="0">
                <a:solidFill>
                  <a:srgbClr val="71717A"/>
                </a:solidFill>
                <a:latin typeface="Segoe UI" pitchFamily="34" charset="0"/>
                <a:ea typeface="Segoe UI" pitchFamily="34" charset="-122"/>
                <a:cs typeface="Segoe UI" pitchFamily="34" charset="-120"/>
              </a:rPr>
              <a:t>. A proof of concept.
</a:t>
            </a:r>
            <a:pPr algn="ctr" indent="0" marL="0">
              <a:lnSpc>
                <a:spcPct val="140000"/>
              </a:lnSpc>
              <a:buNone/>
            </a:pPr>
            <a:r>
              <a:rPr lang="en-US" sz="1600" dirty="0">
                <a:solidFill>
                  <a:srgbClr val="50A0E6"/>
                </a:solidFill>
                <a:latin typeface="Segoe UI" pitchFamily="34" charset="0"/>
                <a:ea typeface="Segoe UI" pitchFamily="34" charset="-122"/>
                <a:cs typeface="Segoe UI" pitchFamily="34" charset="-120"/>
              </a:rPr>
              <a:t>A glimpse of what's coming.</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914400"/>
            <a:ext cx="12192000" cy="365760"/>
          </a:xfrm>
          <a:prstGeom prst="rect">
            <a:avLst/>
          </a:prstGeom>
          <a:noFill/>
          <a:ln/>
        </p:spPr>
        <p:txBody>
          <a:bodyPr wrap="square" rtlCol="0" anchor="ctr"/>
          <a:lstStyle/>
          <a:p>
            <a:pPr algn="ctr" indent="0" marL="0">
              <a:buNone/>
            </a:pPr>
            <a:r>
              <a:rPr lang="en-US" sz="1100" b="1" dirty="0">
                <a:solidFill>
                  <a:srgbClr val="50A0E6"/>
                </a:solidFill>
                <a:latin typeface="Segoe UI" pitchFamily="34" charset="0"/>
                <a:ea typeface="Segoe UI" pitchFamily="34" charset="-122"/>
                <a:cs typeface="Segoe UI" pitchFamily="34" charset="-120"/>
              </a:rPr>
              <a:t>Live Demo</a:t>
            </a:r>
            <a:endParaRPr lang="en-US" sz="1100" dirty="0"/>
          </a:p>
        </p:txBody>
      </p:sp>
      <p:sp>
        <p:nvSpPr>
          <p:cNvPr id="3" name="Text 1"/>
          <p:cNvSpPr txBox="1"/>
          <p:nvPr/>
        </p:nvSpPr>
        <p:spPr>
          <a:xfrm>
            <a:off x="731520" y="1371600"/>
            <a:ext cx="10725912" cy="1828800"/>
          </a:xfrm>
          <a:prstGeom prst="rect">
            <a:avLst/>
          </a:prstGeom>
          <a:noFill/>
          <a:ln/>
        </p:spPr>
        <p:txBody>
          <a:bodyPr wrap="square" rtlCol="0" anchor="ctr"/>
          <a:lstStyle/>
          <a:p>
            <a:pPr algn="ctr" indent="0" marL="0">
              <a:lnSpc>
                <a:spcPct val="110000"/>
              </a:lnSpc>
              <a:buNone/>
            </a:pPr>
            <a:r>
              <a:rPr lang="en-US" sz="3800" b="1" dirty="0">
                <a:solidFill>
                  <a:srgbClr val="FFFFFF"/>
                </a:solidFill>
                <a:latin typeface="Segoe UI" pitchFamily="34" charset="0"/>
                <a:ea typeface="Segoe UI" pitchFamily="34" charset="-122"/>
                <a:cs typeface="Segoe UI" pitchFamily="34" charset="-120"/>
              </a:rPr>
              <a:t>Let's build something.
</a:t>
            </a:r>
            <a:pPr algn="ctr" indent="0" marL="0">
              <a:lnSpc>
                <a:spcPct val="110000"/>
              </a:lnSpc>
              <a:buNone/>
            </a:pPr>
            <a:r>
              <a:rPr lang="en-US" sz="3800" b="1" dirty="0">
                <a:solidFill>
                  <a:srgbClr val="50A0E6"/>
                </a:solidFill>
                <a:latin typeface="Segoe UI" pitchFamily="34" charset="0"/>
                <a:ea typeface="Segoe UI" pitchFamily="34" charset="-122"/>
                <a:cs typeface="Segoe UI" pitchFamily="34" charset="-120"/>
              </a:rPr>
              <a:t>Right now.</a:t>
            </a:r>
            <a:endParaRPr lang="en-US" sz="3800" dirty="0"/>
          </a:p>
        </p:txBody>
      </p:sp>
      <p:sp>
        <p:nvSpPr>
          <p:cNvPr id="4" name="Text 2"/>
          <p:cNvSpPr/>
          <p:nvPr/>
        </p:nvSpPr>
        <p:spPr>
          <a:xfrm>
            <a:off x="1371600" y="3291840"/>
            <a:ext cx="9445752" cy="1097280"/>
          </a:xfrm>
          <a:prstGeom prst="rect">
            <a:avLst/>
          </a:prstGeom>
          <a:noFill/>
          <a:ln/>
        </p:spPr>
        <p:txBody>
          <a:bodyPr wrap="square" rtlCol="0" anchor="ctr"/>
          <a:lstStyle/>
          <a:p>
            <a:pPr algn="ctr" indent="0" marL="0">
              <a:lnSpc>
                <a:spcPct val="140000"/>
              </a:lnSpc>
              <a:buNone/>
            </a:pPr>
            <a:r>
              <a:rPr lang="en-US" sz="1600" dirty="0">
                <a:solidFill>
                  <a:srgbClr val="71717A"/>
                </a:solidFill>
                <a:latin typeface="Segoe UI" pitchFamily="34" charset="0"/>
                <a:ea typeface="Segoe UI" pitchFamily="34" charset="-122"/>
                <a:cs typeface="Segoe UI" pitchFamily="34" charset="-120"/>
              </a:rPr>
              <a:t>Conversation → Architecture → Bicep → Deploy → App live.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274320"/>
            <a:ext cx="12192000" cy="320040"/>
          </a:xfrm>
          <a:prstGeom prst="rect">
            <a:avLst/>
          </a:prstGeom>
          <a:noFill/>
          <a:ln/>
        </p:spPr>
        <p:txBody>
          <a:bodyPr wrap="square" rtlCol="0" anchor="ctr"/>
          <a:lstStyle/>
          <a:p>
            <a:pPr algn="ctr" indent="0" marL="0">
              <a:buNone/>
            </a:pPr>
            <a:r>
              <a:rPr lang="en-US" sz="1100" b="1" dirty="0">
                <a:solidFill>
                  <a:srgbClr val="50A0E6"/>
                </a:solidFill>
                <a:latin typeface="Segoe UI" pitchFamily="34" charset="0"/>
                <a:ea typeface="Segoe UI" pitchFamily="34" charset="-122"/>
                <a:cs typeface="Segoe UI" pitchFamily="34" charset="-120"/>
              </a:rPr>
              <a:t>Demo — Step 1</a:t>
            </a:r>
            <a:endParaRPr lang="en-US" sz="1100" dirty="0"/>
          </a:p>
        </p:txBody>
      </p:sp>
      <p:sp>
        <p:nvSpPr>
          <p:cNvPr id="3" name="Text 1"/>
          <p:cNvSpPr/>
          <p:nvPr/>
        </p:nvSpPr>
        <p:spPr>
          <a:xfrm>
            <a:off x="0" y="640080"/>
            <a:ext cx="12192000" cy="548640"/>
          </a:xfrm>
          <a:prstGeom prst="rect">
            <a:avLst/>
          </a:prstGeom>
          <a:noFill/>
          <a:ln/>
        </p:spPr>
        <p:txBody>
          <a:bodyPr wrap="square"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The Conversation</a:t>
            </a:r>
            <a:endParaRPr lang="en-US" sz="2400" dirty="0"/>
          </a:p>
        </p:txBody>
      </p:sp>
      <p:sp>
        <p:nvSpPr>
          <p:cNvPr id="4" name="Shape 2"/>
          <p:cNvSpPr/>
          <p:nvPr/>
        </p:nvSpPr>
        <p:spPr>
          <a:xfrm>
            <a:off x="5029200" y="1463040"/>
            <a:ext cx="5943600" cy="1280160"/>
          </a:xfrm>
          <a:prstGeom prst="roundRect">
            <a:avLst>
              <a:gd name="adj" fmla="val 10714"/>
            </a:avLst>
          </a:prstGeom>
          <a:solidFill>
            <a:srgbClr val="0078D4">
              <a:alpha val="20000"/>
            </a:srgbClr>
          </a:solidFill>
          <a:ln w="12700">
            <a:solidFill>
              <a:srgbClr val="0078D4">
                <a:alpha val="50000"/>
              </a:srgbClr>
            </a:solidFill>
            <a:prstDash val="solid"/>
          </a:ln>
        </p:spPr>
      </p:sp>
      <p:sp>
        <p:nvSpPr>
          <p:cNvPr id="5" name="Text 3"/>
          <p:cNvSpPr/>
          <p:nvPr/>
        </p:nvSpPr>
        <p:spPr>
          <a:xfrm>
            <a:off x="11064240" y="1508760"/>
            <a:ext cx="457200" cy="45720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6" name="Text 4"/>
          <p:cNvSpPr/>
          <p:nvPr/>
        </p:nvSpPr>
        <p:spPr>
          <a:xfrm>
            <a:off x="5212080" y="1554480"/>
            <a:ext cx="5577840" cy="1097280"/>
          </a:xfrm>
          <a:prstGeom prst="rect">
            <a:avLst/>
          </a:prstGeom>
          <a:noFill/>
          <a:ln/>
        </p:spPr>
        <p:txBody>
          <a:bodyPr wrap="square" rtlCol="0" anchor="ctr"/>
          <a:lstStyle/>
          <a:p>
            <a:pPr indent="0" marL="0">
              <a:lnSpc>
                <a:spcPct val="140000"/>
              </a:lnSpc>
              <a:buNone/>
            </a:pPr>
            <a:r>
              <a:rPr lang="en-US" sz="1200" dirty="0">
                <a:solidFill>
                  <a:srgbClr val="FFFFFF"/>
                </a:solidFill>
                <a:latin typeface="Segoe UI" pitchFamily="34" charset="0"/>
                <a:ea typeface="Segoe UI" pitchFamily="34" charset="-122"/>
                <a:cs typeface="Segoe UI" pitchFamily="34" charset="-120"/>
              </a:rPr>
              <a:t>We need a web app where freelancers can manage contracts, generate invoices, and track time. It needs user auth and a database.</a:t>
            </a:r>
            <a:endParaRPr lang="en-US" sz="1200" dirty="0"/>
          </a:p>
        </p:txBody>
      </p:sp>
      <p:sp>
        <p:nvSpPr>
          <p:cNvPr id="7" name="Shape 5"/>
          <p:cNvSpPr/>
          <p:nvPr/>
        </p:nvSpPr>
        <p:spPr>
          <a:xfrm>
            <a:off x="914400" y="3017520"/>
            <a:ext cx="6858000" cy="1828800"/>
          </a:xfrm>
          <a:prstGeom prst="roundRect">
            <a:avLst>
              <a:gd name="adj" fmla="val 7500"/>
            </a:avLst>
          </a:prstGeom>
          <a:solidFill>
            <a:srgbClr val="27272A">
              <a:alpha val="60000"/>
            </a:srgbClr>
          </a:solidFill>
          <a:ln w="12700">
            <a:solidFill>
              <a:srgbClr val="3F3F46"/>
            </a:solidFill>
            <a:prstDash val="solid"/>
          </a:ln>
        </p:spPr>
      </p:sp>
      <p:sp>
        <p:nvSpPr>
          <p:cNvPr id="8" name="Text 6"/>
          <p:cNvSpPr/>
          <p:nvPr/>
        </p:nvSpPr>
        <p:spPr>
          <a:xfrm>
            <a:off x="365760" y="3063240"/>
            <a:ext cx="457200" cy="45720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9" name="Text 7"/>
          <p:cNvSpPr/>
          <p:nvPr/>
        </p:nvSpPr>
        <p:spPr>
          <a:xfrm>
            <a:off x="1097280" y="3108960"/>
            <a:ext cx="6492240" cy="1645920"/>
          </a:xfrm>
          <a:prstGeom prst="rect">
            <a:avLst/>
          </a:prstGeom>
          <a:noFill/>
          <a:ln/>
        </p:spPr>
        <p:txBody>
          <a:bodyPr wrap="square" rtlCol="0" anchor="ctr"/>
          <a:lstStyle/>
          <a:p>
            <a:pPr indent="0" marL="0">
              <a:lnSpc>
                <a:spcPct val="140000"/>
              </a:lnSpc>
              <a:buNone/>
            </a:pPr>
            <a:r>
              <a:rPr lang="en-US" sz="1200" dirty="0">
                <a:solidFill>
                  <a:srgbClr val="71717A"/>
                </a:solidFill>
                <a:latin typeface="Segoe UI" pitchFamily="34" charset="0"/>
                <a:ea typeface="Segoe UI" pitchFamily="34" charset="-122"/>
                <a:cs typeface="Segoe UI" pitchFamily="34" charset="-120"/>
              </a:rPr>
              <a:t>Got it. I'll design this with: Next.js on App Service, Azure SQL for data, Blob Storage for file uploads, AD B2C for auth, and an Azure Function for Stripe webhooks. Let me draw the architecture and generate the Bicep...</a:t>
            </a:r>
            <a:endParaRPr lang="en-US" sz="1200" dirty="0"/>
          </a:p>
        </p:txBody>
      </p:sp>
      <p:sp>
        <p:nvSpPr>
          <p:cNvPr id="10" name="Shape 8"/>
          <p:cNvSpPr/>
          <p:nvPr/>
        </p:nvSpPr>
        <p:spPr>
          <a:xfrm>
            <a:off x="3200400" y="5212080"/>
            <a:ext cx="5788152" cy="502920"/>
          </a:xfrm>
          <a:prstGeom prst="roundRect">
            <a:avLst>
              <a:gd name="adj" fmla="val 14545"/>
            </a:avLst>
          </a:prstGeom>
          <a:solidFill>
            <a:srgbClr val="0078D4">
              <a:alpha val="15000"/>
            </a:srgbClr>
          </a:solidFill>
          <a:ln w="12700">
            <a:solidFill>
              <a:srgbClr val="0078D4">
                <a:alpha val="40000"/>
              </a:srgbClr>
            </a:solidFill>
            <a:prstDash val="solid"/>
          </a:ln>
        </p:spPr>
      </p:sp>
      <p:sp>
        <p:nvSpPr>
          <p:cNvPr id="11" name="Text 9"/>
          <p:cNvSpPr/>
          <p:nvPr/>
        </p:nvSpPr>
        <p:spPr>
          <a:xfrm>
            <a:off x="3200400" y="5212080"/>
            <a:ext cx="5788152" cy="502920"/>
          </a:xfrm>
          <a:prstGeom prst="rect">
            <a:avLst/>
          </a:prstGeom>
          <a:noFill/>
          <a:ln/>
        </p:spPr>
        <p:txBody>
          <a:bodyPr wrap="square" rtlCol="0" anchor="ctr"/>
          <a:lstStyle/>
          <a:p>
            <a:pPr algn="ctr" indent="0" marL="0">
              <a:buNone/>
            </a:pPr>
            <a:r>
              <a:rPr lang="en-US" sz="1200" b="1" dirty="0">
                <a:solidFill>
                  <a:srgbClr val="50A0E6"/>
                </a:solidFill>
                <a:latin typeface="Segoe UI" pitchFamily="34" charset="0"/>
                <a:ea typeface="Segoe UI" pitchFamily="34" charset="-122"/>
                <a:cs typeface="Segoe UI" pitchFamily="34" charset="-120"/>
              </a:rPr>
              <a:t>🎯 Plain English → structured architecture in seconds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274320"/>
            <a:ext cx="12192000" cy="320040"/>
          </a:xfrm>
          <a:prstGeom prst="rect">
            <a:avLst/>
          </a:prstGeom>
          <a:noFill/>
          <a:ln/>
        </p:spPr>
        <p:txBody>
          <a:bodyPr wrap="square" rtlCol="0" anchor="ctr"/>
          <a:lstStyle/>
          <a:p>
            <a:pPr algn="ctr" indent="0" marL="0">
              <a:buNone/>
            </a:pPr>
            <a:r>
              <a:rPr lang="en-US" sz="1100" b="1" dirty="0">
                <a:solidFill>
                  <a:srgbClr val="50A0E6"/>
                </a:solidFill>
                <a:latin typeface="Segoe UI" pitchFamily="34" charset="0"/>
                <a:ea typeface="Segoe UI" pitchFamily="34" charset="-122"/>
                <a:cs typeface="Segoe UI" pitchFamily="34" charset="-120"/>
              </a:rPr>
              <a:t>Demo — Step 2</a:t>
            </a:r>
            <a:endParaRPr lang="en-US" sz="1100" dirty="0"/>
          </a:p>
        </p:txBody>
      </p:sp>
      <p:sp>
        <p:nvSpPr>
          <p:cNvPr id="3" name="Text 1"/>
          <p:cNvSpPr/>
          <p:nvPr/>
        </p:nvSpPr>
        <p:spPr>
          <a:xfrm>
            <a:off x="0" y="640080"/>
            <a:ext cx="12192000" cy="548640"/>
          </a:xfrm>
          <a:prstGeom prst="rect">
            <a:avLst/>
          </a:prstGeom>
          <a:noFill/>
          <a:ln/>
        </p:spPr>
        <p:txBody>
          <a:bodyPr wrap="square"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Architecture materializes</a:t>
            </a:r>
            <a:endParaRPr lang="en-US" sz="2400" dirty="0"/>
          </a:p>
        </p:txBody>
      </p:sp>
      <p:sp>
        <p:nvSpPr>
          <p:cNvPr id="4" name="Shape 2"/>
          <p:cNvSpPr/>
          <p:nvPr/>
        </p:nvSpPr>
        <p:spPr>
          <a:xfrm>
            <a:off x="914400" y="1554480"/>
            <a:ext cx="3017520" cy="1645920"/>
          </a:xfrm>
          <a:prstGeom prst="roundRect">
            <a:avLst>
              <a:gd name="adj" fmla="val 6667"/>
            </a:avLst>
          </a:prstGeom>
          <a:solidFill>
            <a:srgbClr val="27272A">
              <a:alpha val="60000"/>
            </a:srgbClr>
          </a:solidFill>
          <a:ln w="12700">
            <a:solidFill>
              <a:srgbClr val="0078D4">
                <a:alpha val="50000"/>
              </a:srgbClr>
            </a:solidFill>
            <a:prstDash val="solid"/>
          </a:ln>
        </p:spPr>
      </p:sp>
      <p:sp>
        <p:nvSpPr>
          <p:cNvPr id="5" name="Text 3"/>
          <p:cNvSpPr/>
          <p:nvPr/>
        </p:nvSpPr>
        <p:spPr>
          <a:xfrm>
            <a:off x="914400" y="1691640"/>
            <a:ext cx="3017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914400" y="2194560"/>
            <a:ext cx="301752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Next.js</a:t>
            </a:r>
            <a:endParaRPr lang="en-US" sz="1400" dirty="0"/>
          </a:p>
        </p:txBody>
      </p:sp>
      <p:sp>
        <p:nvSpPr>
          <p:cNvPr id="7" name="Text 5"/>
          <p:cNvSpPr/>
          <p:nvPr/>
        </p:nvSpPr>
        <p:spPr>
          <a:xfrm>
            <a:off x="914400" y="2560320"/>
            <a:ext cx="3017520" cy="365760"/>
          </a:xfrm>
          <a:prstGeom prst="rect">
            <a:avLst/>
          </a:prstGeom>
          <a:noFill/>
          <a:ln/>
        </p:spPr>
        <p:txBody>
          <a:bodyPr wrap="square" rtlCol="0" anchor="ctr"/>
          <a:lstStyle/>
          <a:p>
            <a:pPr algn="ctr" indent="0" marL="0">
              <a:buNone/>
            </a:pPr>
            <a:r>
              <a:rPr lang="en-US" sz="1000" dirty="0">
                <a:solidFill>
                  <a:srgbClr val="52525B"/>
                </a:solidFill>
                <a:latin typeface="Segoe UI" pitchFamily="34" charset="0"/>
                <a:ea typeface="Segoe UI" pitchFamily="34" charset="-122"/>
                <a:cs typeface="Segoe UI" pitchFamily="34" charset="-120"/>
              </a:rPr>
              <a:t>App Service</a:t>
            </a:r>
            <a:endParaRPr lang="en-US" sz="1000" dirty="0"/>
          </a:p>
        </p:txBody>
      </p:sp>
      <p:sp>
        <p:nvSpPr>
          <p:cNvPr id="8" name="Shape 6"/>
          <p:cNvSpPr/>
          <p:nvPr/>
        </p:nvSpPr>
        <p:spPr>
          <a:xfrm>
            <a:off x="4663440" y="1554480"/>
            <a:ext cx="3017520" cy="1645920"/>
          </a:xfrm>
          <a:prstGeom prst="roundRect">
            <a:avLst>
              <a:gd name="adj" fmla="val 6667"/>
            </a:avLst>
          </a:prstGeom>
          <a:solidFill>
            <a:srgbClr val="27272A">
              <a:alpha val="60000"/>
            </a:srgbClr>
          </a:solidFill>
          <a:ln w="12700">
            <a:solidFill>
              <a:srgbClr val="06B6D4">
                <a:alpha val="50000"/>
              </a:srgbClr>
            </a:solidFill>
            <a:prstDash val="solid"/>
          </a:ln>
        </p:spPr>
      </p:sp>
      <p:sp>
        <p:nvSpPr>
          <p:cNvPr id="9" name="Text 7"/>
          <p:cNvSpPr/>
          <p:nvPr/>
        </p:nvSpPr>
        <p:spPr>
          <a:xfrm>
            <a:off x="4663440" y="1691640"/>
            <a:ext cx="3017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4663440" y="2194560"/>
            <a:ext cx="301752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Azure SQL</a:t>
            </a:r>
            <a:endParaRPr lang="en-US" sz="1400" dirty="0"/>
          </a:p>
        </p:txBody>
      </p:sp>
      <p:sp>
        <p:nvSpPr>
          <p:cNvPr id="11" name="Text 9"/>
          <p:cNvSpPr/>
          <p:nvPr/>
        </p:nvSpPr>
        <p:spPr>
          <a:xfrm>
            <a:off x="4663440" y="2560320"/>
            <a:ext cx="3017520" cy="365760"/>
          </a:xfrm>
          <a:prstGeom prst="rect">
            <a:avLst/>
          </a:prstGeom>
          <a:noFill/>
          <a:ln/>
        </p:spPr>
        <p:txBody>
          <a:bodyPr wrap="square" rtlCol="0" anchor="ctr"/>
          <a:lstStyle/>
          <a:p>
            <a:pPr algn="ctr" indent="0" marL="0">
              <a:buNone/>
            </a:pPr>
            <a:r>
              <a:rPr lang="en-US" sz="1000" dirty="0">
                <a:solidFill>
                  <a:srgbClr val="52525B"/>
                </a:solidFill>
                <a:latin typeface="Segoe UI" pitchFamily="34" charset="0"/>
                <a:ea typeface="Segoe UI" pitchFamily="34" charset="-122"/>
                <a:cs typeface="Segoe UI" pitchFamily="34" charset="-120"/>
              </a:rPr>
              <a:t>Contracts &amp; Invoices</a:t>
            </a:r>
            <a:endParaRPr lang="en-US" sz="1000" dirty="0"/>
          </a:p>
        </p:txBody>
      </p:sp>
      <p:sp>
        <p:nvSpPr>
          <p:cNvPr id="12" name="Shape 10"/>
          <p:cNvSpPr/>
          <p:nvPr/>
        </p:nvSpPr>
        <p:spPr>
          <a:xfrm>
            <a:off x="8412480" y="1554480"/>
            <a:ext cx="3017520" cy="1645920"/>
          </a:xfrm>
          <a:prstGeom prst="roundRect">
            <a:avLst>
              <a:gd name="adj" fmla="val 6667"/>
            </a:avLst>
          </a:prstGeom>
          <a:solidFill>
            <a:srgbClr val="27272A">
              <a:alpha val="60000"/>
            </a:srgbClr>
          </a:solidFill>
          <a:ln w="12700">
            <a:solidFill>
              <a:srgbClr val="8B5CF6">
                <a:alpha val="50000"/>
              </a:srgbClr>
            </a:solidFill>
            <a:prstDash val="solid"/>
          </a:ln>
        </p:spPr>
      </p:sp>
      <p:sp>
        <p:nvSpPr>
          <p:cNvPr id="13" name="Text 11"/>
          <p:cNvSpPr/>
          <p:nvPr/>
        </p:nvSpPr>
        <p:spPr>
          <a:xfrm>
            <a:off x="8412480" y="1691640"/>
            <a:ext cx="3017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8412480" y="2194560"/>
            <a:ext cx="301752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Blob Storage</a:t>
            </a:r>
            <a:endParaRPr lang="en-US" sz="1400" dirty="0"/>
          </a:p>
        </p:txBody>
      </p:sp>
      <p:sp>
        <p:nvSpPr>
          <p:cNvPr id="15" name="Text 13"/>
          <p:cNvSpPr/>
          <p:nvPr/>
        </p:nvSpPr>
        <p:spPr>
          <a:xfrm>
            <a:off x="8412480" y="2560320"/>
            <a:ext cx="3017520" cy="365760"/>
          </a:xfrm>
          <a:prstGeom prst="rect">
            <a:avLst/>
          </a:prstGeom>
          <a:noFill/>
          <a:ln/>
        </p:spPr>
        <p:txBody>
          <a:bodyPr wrap="square" rtlCol="0" anchor="ctr"/>
          <a:lstStyle/>
          <a:p>
            <a:pPr algn="ctr" indent="0" marL="0">
              <a:buNone/>
            </a:pPr>
            <a:r>
              <a:rPr lang="en-US" sz="1000" dirty="0">
                <a:solidFill>
                  <a:srgbClr val="52525B"/>
                </a:solidFill>
                <a:latin typeface="Segoe UI" pitchFamily="34" charset="0"/>
                <a:ea typeface="Segoe UI" pitchFamily="34" charset="-122"/>
                <a:cs typeface="Segoe UI" pitchFamily="34" charset="-120"/>
              </a:rPr>
              <a:t>File uploads</a:t>
            </a:r>
            <a:endParaRPr lang="en-US" sz="1000" dirty="0"/>
          </a:p>
        </p:txBody>
      </p:sp>
      <p:sp>
        <p:nvSpPr>
          <p:cNvPr id="16" name="Text 14"/>
          <p:cNvSpPr/>
          <p:nvPr/>
        </p:nvSpPr>
        <p:spPr>
          <a:xfrm>
            <a:off x="3749040" y="2011680"/>
            <a:ext cx="731520" cy="457200"/>
          </a:xfrm>
          <a:prstGeom prst="rect">
            <a:avLst/>
          </a:prstGeom>
          <a:noFill/>
          <a:ln/>
        </p:spPr>
        <p:txBody>
          <a:bodyPr wrap="square" rtlCol="0" anchor="ctr"/>
          <a:lstStyle/>
          <a:p>
            <a:pPr algn="ctr" indent="0" marL="0">
              <a:buNone/>
            </a:pPr>
            <a:r>
              <a:rPr lang="en-US" sz="1800" dirty="0">
                <a:solidFill>
                  <a:srgbClr val="50A0E6"/>
                </a:solidFill>
              </a:rPr>
              <a:t>↔</a:t>
            </a:r>
            <a:endParaRPr lang="en-US" sz="1800" dirty="0"/>
          </a:p>
        </p:txBody>
      </p:sp>
      <p:sp>
        <p:nvSpPr>
          <p:cNvPr id="17" name="Text 15"/>
          <p:cNvSpPr/>
          <p:nvPr/>
        </p:nvSpPr>
        <p:spPr>
          <a:xfrm>
            <a:off x="7498080" y="2011680"/>
            <a:ext cx="731520" cy="457200"/>
          </a:xfrm>
          <a:prstGeom prst="rect">
            <a:avLst/>
          </a:prstGeom>
          <a:noFill/>
          <a:ln/>
        </p:spPr>
        <p:txBody>
          <a:bodyPr wrap="square" rtlCol="0" anchor="ctr"/>
          <a:lstStyle/>
          <a:p>
            <a:pPr algn="ctr" indent="0" marL="0">
              <a:buNone/>
            </a:pPr>
            <a:r>
              <a:rPr lang="en-US" sz="1800" dirty="0">
                <a:solidFill>
                  <a:srgbClr val="50A0E6"/>
                </a:solidFill>
              </a:rPr>
              <a:t>↔</a:t>
            </a:r>
            <a:endParaRPr lang="en-US" sz="1800" dirty="0"/>
          </a:p>
        </p:txBody>
      </p:sp>
      <p:sp>
        <p:nvSpPr>
          <p:cNvPr id="18" name="Shape 16"/>
          <p:cNvSpPr/>
          <p:nvPr/>
        </p:nvSpPr>
        <p:spPr>
          <a:xfrm>
            <a:off x="914400" y="3840480"/>
            <a:ext cx="3017520" cy="1645920"/>
          </a:xfrm>
          <a:prstGeom prst="roundRect">
            <a:avLst>
              <a:gd name="adj" fmla="val 6667"/>
            </a:avLst>
          </a:prstGeom>
          <a:solidFill>
            <a:srgbClr val="27272A">
              <a:alpha val="60000"/>
            </a:srgbClr>
          </a:solidFill>
          <a:ln w="12700">
            <a:solidFill>
              <a:srgbClr val="10B981">
                <a:alpha val="50000"/>
              </a:srgbClr>
            </a:solidFill>
            <a:prstDash val="solid"/>
          </a:ln>
        </p:spPr>
      </p:sp>
      <p:sp>
        <p:nvSpPr>
          <p:cNvPr id="19" name="Text 17"/>
          <p:cNvSpPr/>
          <p:nvPr/>
        </p:nvSpPr>
        <p:spPr>
          <a:xfrm>
            <a:off x="914400" y="3977640"/>
            <a:ext cx="3017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914400" y="4480560"/>
            <a:ext cx="301752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AD B2C</a:t>
            </a:r>
            <a:endParaRPr lang="en-US" sz="1400" dirty="0"/>
          </a:p>
        </p:txBody>
      </p:sp>
      <p:sp>
        <p:nvSpPr>
          <p:cNvPr id="21" name="Text 19"/>
          <p:cNvSpPr/>
          <p:nvPr/>
        </p:nvSpPr>
        <p:spPr>
          <a:xfrm>
            <a:off x="914400" y="4846320"/>
            <a:ext cx="3017520" cy="365760"/>
          </a:xfrm>
          <a:prstGeom prst="rect">
            <a:avLst/>
          </a:prstGeom>
          <a:noFill/>
          <a:ln/>
        </p:spPr>
        <p:txBody>
          <a:bodyPr wrap="square" rtlCol="0" anchor="ctr"/>
          <a:lstStyle/>
          <a:p>
            <a:pPr algn="ctr" indent="0" marL="0">
              <a:buNone/>
            </a:pPr>
            <a:r>
              <a:rPr lang="en-US" sz="1000" dirty="0">
                <a:solidFill>
                  <a:srgbClr val="52525B"/>
                </a:solidFill>
                <a:latin typeface="Segoe UI" pitchFamily="34" charset="0"/>
                <a:ea typeface="Segoe UI" pitchFamily="34" charset="-122"/>
                <a:cs typeface="Segoe UI" pitchFamily="34" charset="-120"/>
              </a:rPr>
              <a:t>Auth</a:t>
            </a:r>
            <a:endParaRPr lang="en-US" sz="1000" dirty="0"/>
          </a:p>
        </p:txBody>
      </p:sp>
      <p:sp>
        <p:nvSpPr>
          <p:cNvPr id="22" name="Shape 20"/>
          <p:cNvSpPr/>
          <p:nvPr/>
        </p:nvSpPr>
        <p:spPr>
          <a:xfrm>
            <a:off x="4663440" y="3840480"/>
            <a:ext cx="3017520" cy="1645920"/>
          </a:xfrm>
          <a:prstGeom prst="roundRect">
            <a:avLst>
              <a:gd name="adj" fmla="val 6667"/>
            </a:avLst>
          </a:prstGeom>
          <a:solidFill>
            <a:srgbClr val="27272A">
              <a:alpha val="60000"/>
            </a:srgbClr>
          </a:solidFill>
          <a:ln w="12700">
            <a:solidFill>
              <a:srgbClr val="F97316">
                <a:alpha val="50000"/>
              </a:srgbClr>
            </a:solidFill>
            <a:prstDash val="solid"/>
          </a:ln>
        </p:spPr>
      </p:sp>
      <p:sp>
        <p:nvSpPr>
          <p:cNvPr id="23" name="Text 21"/>
          <p:cNvSpPr/>
          <p:nvPr/>
        </p:nvSpPr>
        <p:spPr>
          <a:xfrm>
            <a:off x="4663440" y="3977640"/>
            <a:ext cx="3017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4" name="Text 22"/>
          <p:cNvSpPr/>
          <p:nvPr/>
        </p:nvSpPr>
        <p:spPr>
          <a:xfrm>
            <a:off x="4663440" y="4480560"/>
            <a:ext cx="301752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Functions</a:t>
            </a:r>
            <a:endParaRPr lang="en-US" sz="1400" dirty="0"/>
          </a:p>
        </p:txBody>
      </p:sp>
      <p:sp>
        <p:nvSpPr>
          <p:cNvPr id="25" name="Text 23"/>
          <p:cNvSpPr/>
          <p:nvPr/>
        </p:nvSpPr>
        <p:spPr>
          <a:xfrm>
            <a:off x="4663440" y="4846320"/>
            <a:ext cx="3017520" cy="365760"/>
          </a:xfrm>
          <a:prstGeom prst="rect">
            <a:avLst/>
          </a:prstGeom>
          <a:noFill/>
          <a:ln/>
        </p:spPr>
        <p:txBody>
          <a:bodyPr wrap="square" rtlCol="0" anchor="ctr"/>
          <a:lstStyle/>
          <a:p>
            <a:pPr algn="ctr" indent="0" marL="0">
              <a:buNone/>
            </a:pPr>
            <a:r>
              <a:rPr lang="en-US" sz="1000" dirty="0">
                <a:solidFill>
                  <a:srgbClr val="52525B"/>
                </a:solidFill>
                <a:latin typeface="Segoe UI" pitchFamily="34" charset="0"/>
                <a:ea typeface="Segoe UI" pitchFamily="34" charset="-122"/>
                <a:cs typeface="Segoe UI" pitchFamily="34" charset="-120"/>
              </a:rPr>
              <a:t>Stripe webhooks</a:t>
            </a:r>
            <a:endParaRPr lang="en-US" sz="1000" dirty="0"/>
          </a:p>
        </p:txBody>
      </p:sp>
      <p:sp>
        <p:nvSpPr>
          <p:cNvPr id="26" name="Shape 24"/>
          <p:cNvSpPr/>
          <p:nvPr/>
        </p:nvSpPr>
        <p:spPr>
          <a:xfrm>
            <a:off x="8412480" y="3840480"/>
            <a:ext cx="3017520" cy="1645920"/>
          </a:xfrm>
          <a:prstGeom prst="roundRect">
            <a:avLst>
              <a:gd name="adj" fmla="val 6667"/>
            </a:avLst>
          </a:prstGeom>
          <a:solidFill>
            <a:srgbClr val="27272A">
              <a:alpha val="60000"/>
            </a:srgbClr>
          </a:solidFill>
          <a:ln w="12700">
            <a:solidFill>
              <a:srgbClr val="F59E0B">
                <a:alpha val="50000"/>
              </a:srgbClr>
            </a:solidFill>
            <a:prstDash val="solid"/>
          </a:ln>
        </p:spPr>
      </p:sp>
      <p:sp>
        <p:nvSpPr>
          <p:cNvPr id="27" name="Text 25"/>
          <p:cNvSpPr/>
          <p:nvPr/>
        </p:nvSpPr>
        <p:spPr>
          <a:xfrm>
            <a:off x="8412480" y="3977640"/>
            <a:ext cx="3017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8" name="Text 26"/>
          <p:cNvSpPr/>
          <p:nvPr/>
        </p:nvSpPr>
        <p:spPr>
          <a:xfrm>
            <a:off x="8412480" y="4480560"/>
            <a:ext cx="301752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App Insights</a:t>
            </a:r>
            <a:endParaRPr lang="en-US" sz="1400" dirty="0"/>
          </a:p>
        </p:txBody>
      </p:sp>
      <p:sp>
        <p:nvSpPr>
          <p:cNvPr id="29" name="Text 27"/>
          <p:cNvSpPr/>
          <p:nvPr/>
        </p:nvSpPr>
        <p:spPr>
          <a:xfrm>
            <a:off x="8412480" y="4846320"/>
            <a:ext cx="3017520" cy="365760"/>
          </a:xfrm>
          <a:prstGeom prst="rect">
            <a:avLst/>
          </a:prstGeom>
          <a:noFill/>
          <a:ln/>
        </p:spPr>
        <p:txBody>
          <a:bodyPr wrap="square" rtlCol="0" anchor="ctr"/>
          <a:lstStyle/>
          <a:p>
            <a:pPr algn="ctr" indent="0" marL="0">
              <a:buNone/>
            </a:pPr>
            <a:r>
              <a:rPr lang="en-US" sz="1000" dirty="0">
                <a:solidFill>
                  <a:srgbClr val="52525B"/>
                </a:solidFill>
                <a:latin typeface="Segoe UI" pitchFamily="34" charset="0"/>
                <a:ea typeface="Segoe UI" pitchFamily="34" charset="-122"/>
                <a:cs typeface="Segoe UI" pitchFamily="34" charset="-120"/>
              </a:rPr>
              <a:t>Monitoring</a:t>
            </a:r>
            <a:endParaRPr lang="en-US" sz="1000" dirty="0"/>
          </a:p>
        </p:txBody>
      </p:sp>
      <p:sp>
        <p:nvSpPr>
          <p:cNvPr id="30" name="Text 28"/>
          <p:cNvSpPr/>
          <p:nvPr/>
        </p:nvSpPr>
        <p:spPr>
          <a:xfrm>
            <a:off x="3749040" y="4297680"/>
            <a:ext cx="731520" cy="457200"/>
          </a:xfrm>
          <a:prstGeom prst="rect">
            <a:avLst/>
          </a:prstGeom>
          <a:noFill/>
          <a:ln/>
        </p:spPr>
        <p:txBody>
          <a:bodyPr wrap="square" rtlCol="0" anchor="ctr"/>
          <a:lstStyle/>
          <a:p>
            <a:pPr algn="ctr" indent="0" marL="0">
              <a:buNone/>
            </a:pPr>
            <a:r>
              <a:rPr lang="en-US" sz="1800" dirty="0">
                <a:solidFill>
                  <a:srgbClr val="50A0E6"/>
                </a:solidFill>
              </a:rPr>
              <a:t>↔</a:t>
            </a:r>
            <a:endParaRPr lang="en-US" sz="1800" dirty="0"/>
          </a:p>
        </p:txBody>
      </p:sp>
      <p:sp>
        <p:nvSpPr>
          <p:cNvPr id="31" name="Text 29"/>
          <p:cNvSpPr/>
          <p:nvPr/>
        </p:nvSpPr>
        <p:spPr>
          <a:xfrm>
            <a:off x="7498080" y="4297680"/>
            <a:ext cx="731520" cy="457200"/>
          </a:xfrm>
          <a:prstGeom prst="rect">
            <a:avLst/>
          </a:prstGeom>
          <a:noFill/>
          <a:ln/>
        </p:spPr>
        <p:txBody>
          <a:bodyPr wrap="square" rtlCol="0" anchor="ctr"/>
          <a:lstStyle/>
          <a:p>
            <a:pPr algn="ctr" indent="0" marL="0">
              <a:buNone/>
            </a:pPr>
            <a:r>
              <a:rPr lang="en-US" sz="1800" dirty="0">
                <a:solidFill>
                  <a:srgbClr val="50A0E6"/>
                </a:solidFill>
              </a:rPr>
              <a: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0" y="182880"/>
            <a:ext cx="12192000" cy="320040"/>
          </a:xfrm>
          <a:prstGeom prst="rect">
            <a:avLst/>
          </a:prstGeom>
          <a:noFill/>
          <a:ln/>
        </p:spPr>
        <p:txBody>
          <a:bodyPr wrap="square" rtlCol="0" anchor="ctr"/>
          <a:lstStyle/>
          <a:p>
            <a:pPr algn="ctr" indent="0" marL="0">
              <a:buNone/>
            </a:pPr>
            <a:r>
              <a:rPr lang="en-US" sz="1100" b="1" dirty="0">
                <a:solidFill>
                  <a:srgbClr val="50A0E6"/>
                </a:solidFill>
                <a:latin typeface="Segoe UI" pitchFamily="34" charset="0"/>
                <a:ea typeface="Segoe UI" pitchFamily="34" charset="-122"/>
                <a:cs typeface="Segoe UI" pitchFamily="34" charset="-120"/>
              </a:rPr>
              <a:t>Demo — Step 3</a:t>
            </a:r>
            <a:endParaRPr lang="en-US" sz="1100" dirty="0"/>
          </a:p>
        </p:txBody>
      </p:sp>
      <p:sp>
        <p:nvSpPr>
          <p:cNvPr id="3" name="Text 1"/>
          <p:cNvSpPr/>
          <p:nvPr/>
        </p:nvSpPr>
        <p:spPr>
          <a:xfrm>
            <a:off x="0" y="457200"/>
            <a:ext cx="12192000" cy="365760"/>
          </a:xfrm>
          <a:prstGeom prst="rect">
            <a:avLst/>
          </a:prstGeom>
          <a:noFill/>
          <a:ln/>
        </p:spPr>
        <p:txBody>
          <a:bodyPr wrap="square" rtlCol="0" anchor="ctr"/>
          <a:lstStyle/>
          <a:p>
            <a:pPr algn="ctr" indent="0" marL="0">
              <a:buNone/>
            </a:pPr>
            <a:r>
              <a:rPr lang="en-US" sz="1400" dirty="0">
                <a:solidFill>
                  <a:srgbClr val="52525B"/>
                </a:solidFill>
                <a:latin typeface="Segoe UI" pitchFamily="34" charset="0"/>
                <a:ea typeface="Segoe UI" pitchFamily="34" charset="-122"/>
                <a:cs typeface="Segoe UI" pitchFamily="34" charset="-120"/>
              </a:rPr>
              <a:t>Generated Bicep — real, deployable IaC</a:t>
            </a:r>
            <a:endParaRPr lang="en-US" sz="1400" dirty="0"/>
          </a:p>
        </p:txBody>
      </p:sp>
      <p:sp>
        <p:nvSpPr>
          <p:cNvPr id="4" name="Shape 2"/>
          <p:cNvSpPr/>
          <p:nvPr/>
        </p:nvSpPr>
        <p:spPr>
          <a:xfrm>
            <a:off x="1371600" y="914400"/>
            <a:ext cx="9445752" cy="5029200"/>
          </a:xfrm>
          <a:prstGeom prst="roundRect">
            <a:avLst>
              <a:gd name="adj" fmla="val 2182"/>
            </a:avLst>
          </a:prstGeom>
          <a:solidFill>
            <a:srgbClr val="161B22"/>
          </a:solidFill>
          <a:ln w="12700">
            <a:solidFill>
              <a:srgbClr val="30363D"/>
            </a:solidFill>
            <a:prstDash val="solid"/>
          </a:ln>
        </p:spPr>
      </p:sp>
      <p:sp>
        <p:nvSpPr>
          <p:cNvPr id="5" name="Text 3"/>
          <p:cNvSpPr/>
          <p:nvPr/>
        </p:nvSpPr>
        <p:spPr>
          <a:xfrm>
            <a:off x="1645920" y="1097280"/>
            <a:ext cx="8897112" cy="4663440"/>
          </a:xfrm>
          <a:prstGeom prst="rect">
            <a:avLst/>
          </a:prstGeom>
          <a:noFill/>
          <a:ln/>
        </p:spPr>
        <p:txBody>
          <a:bodyPr wrap="square" rtlCol="0" anchor="t"/>
          <a:lstStyle/>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Auto-generated from conversation</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param location string = resourceGroup().location</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param appName string = 'freelancer-saas'</a:t>
            </a:r>
            <a:endParaRPr lang="en-US" sz="1000" dirty="0"/>
          </a:p>
          <a:p>
            <a:pPr indent="0" marL="0">
              <a:lnSpc>
                <a:spcPct val="120000"/>
              </a:lnSpc>
              <a:buNone/>
            </a:pP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resource appServicePlan 'Microsoft.Web/serverfarms@2023-12-01' = {</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name: '${appName}-plan'</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location: location</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sku: { name: 'B1', tier: 'Basic' }</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kind: 'linux'</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properties: { reserved: true }</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a:t>
            </a:r>
            <a:endParaRPr lang="en-US" sz="1000" dirty="0"/>
          </a:p>
          <a:p>
            <a:pPr indent="0" marL="0">
              <a:lnSpc>
                <a:spcPct val="120000"/>
              </a:lnSpc>
              <a:buNone/>
            </a:pP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resource webApp 'Microsoft.Web/sites@2023-12-01' = {</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name: '${appName}-web'</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location: location</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properties: {</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serverFarmId: appServicePlan.id</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siteConfig: {</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linuxFxVersion: 'NODE|20-lts'</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appSettings: [</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 name: 'DATABASE_URL', value: sqlServer.properties... }</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 name: 'AZURE_STORAGE_CONNECTION', value: storage... }</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a:t>
            </a:r>
            <a:endParaRPr lang="en-US" sz="1000" dirty="0"/>
          </a:p>
          <a:p>
            <a:pPr indent="0" marL="0">
              <a:lnSpc>
                <a:spcPct val="120000"/>
              </a:lnSpc>
              <a:buNone/>
            </a:pPr>
            <a:r>
              <a:rPr lang="en-US" sz="1000" dirty="0">
                <a:solidFill>
                  <a:srgbClr val="E6EDF3"/>
                </a:solidFill>
                <a:latin typeface="Consolas" pitchFamily="34" charset="0"/>
                <a:ea typeface="Consolas" pitchFamily="34" charset="-122"/>
                <a:cs typeface="Consolas" pitchFamily="34" charset="-120"/>
              </a:rPr>
              <a:t>// + SQL Server, Storage, App Insights, Functions...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0" y="182880"/>
            <a:ext cx="12192000" cy="320040"/>
          </a:xfrm>
          <a:prstGeom prst="rect">
            <a:avLst/>
          </a:prstGeom>
          <a:noFill/>
          <a:ln/>
        </p:spPr>
        <p:txBody>
          <a:bodyPr wrap="square" rtlCol="0" anchor="ctr"/>
          <a:lstStyle/>
          <a:p>
            <a:pPr algn="ctr" indent="0" marL="0">
              <a:buNone/>
            </a:pPr>
            <a:r>
              <a:rPr lang="en-US" sz="1100" b="1" dirty="0">
                <a:solidFill>
                  <a:srgbClr val="50A0E6"/>
                </a:solidFill>
                <a:latin typeface="Segoe UI" pitchFamily="34" charset="0"/>
                <a:ea typeface="Segoe UI" pitchFamily="34" charset="-122"/>
                <a:cs typeface="Segoe UI" pitchFamily="34" charset="-120"/>
              </a:rPr>
              <a:t>Demo — Step 4</a:t>
            </a:r>
            <a:endParaRPr lang="en-US" sz="1100" dirty="0"/>
          </a:p>
        </p:txBody>
      </p:sp>
      <p:sp>
        <p:nvSpPr>
          <p:cNvPr id="3" name="Text 1"/>
          <p:cNvSpPr/>
          <p:nvPr/>
        </p:nvSpPr>
        <p:spPr>
          <a:xfrm>
            <a:off x="0" y="457200"/>
            <a:ext cx="12192000" cy="365760"/>
          </a:xfrm>
          <a:prstGeom prst="rect">
            <a:avLst/>
          </a:prstGeom>
          <a:noFill/>
          <a:ln/>
        </p:spPr>
        <p:txBody>
          <a:bodyPr wrap="square" rtlCol="0" anchor="ctr"/>
          <a:lstStyle/>
          <a:p>
            <a:pPr algn="ctr" indent="0" marL="0">
              <a:buNone/>
            </a:pPr>
            <a:r>
              <a:rPr lang="en-US" sz="1400" dirty="0">
                <a:solidFill>
                  <a:srgbClr val="52525B"/>
                </a:solidFill>
                <a:latin typeface="Segoe UI" pitchFamily="34" charset="0"/>
                <a:ea typeface="Segoe UI" pitchFamily="34" charset="-122"/>
                <a:cs typeface="Segoe UI" pitchFamily="34" charset="-120"/>
              </a:rPr>
              <a:t>Deploy to Azure — live</a:t>
            </a:r>
            <a:endParaRPr lang="en-US" sz="1400" dirty="0"/>
          </a:p>
        </p:txBody>
      </p:sp>
      <p:sp>
        <p:nvSpPr>
          <p:cNvPr id="4" name="Shape 2"/>
          <p:cNvSpPr/>
          <p:nvPr/>
        </p:nvSpPr>
        <p:spPr>
          <a:xfrm>
            <a:off x="1371600" y="914400"/>
            <a:ext cx="9445752" cy="4389120"/>
          </a:xfrm>
          <a:prstGeom prst="roundRect">
            <a:avLst>
              <a:gd name="adj" fmla="val 2500"/>
            </a:avLst>
          </a:prstGeom>
          <a:solidFill>
            <a:srgbClr val="161B22"/>
          </a:solidFill>
          <a:ln w="12700">
            <a:solidFill>
              <a:srgbClr val="30363D"/>
            </a:solidFill>
            <a:prstDash val="solid"/>
          </a:ln>
        </p:spPr>
      </p:sp>
      <p:sp>
        <p:nvSpPr>
          <p:cNvPr id="5" name="Text 3"/>
          <p:cNvSpPr/>
          <p:nvPr/>
        </p:nvSpPr>
        <p:spPr>
          <a:xfrm>
            <a:off x="1645920" y="1097280"/>
            <a:ext cx="8897112" cy="4023360"/>
          </a:xfrm>
          <a:prstGeom prst="rect">
            <a:avLst/>
          </a:prstGeom>
          <a:noFill/>
          <a:ln/>
        </p:spPr>
        <p:txBody>
          <a:bodyPr wrap="square" rtlCol="0" anchor="t"/>
          <a:lstStyle/>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az group create --name rg-freelancer-saas --location westeurope</a:t>
            </a:r>
            <a:endParaRPr lang="en-US" sz="1100" dirty="0"/>
          </a:p>
          <a:p>
            <a:pPr indent="0" marL="0">
              <a:lnSpc>
                <a:spcPct val="125000"/>
              </a:lnSpc>
              <a:buNone/>
            </a:pP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az deployment group create \</a:t>
            </a: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  --resource-group rg-freelancer-saas \</a:t>
            </a: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  --template-file main.bicep \</a:t>
            </a: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  --parameters appName=freelancer-saas</a:t>
            </a:r>
            <a:endParaRPr lang="en-US" sz="1100" dirty="0"/>
          </a:p>
          <a:p>
            <a:pPr indent="0" marL="0">
              <a:lnSpc>
                <a:spcPct val="125000"/>
              </a:lnSpc>
              <a:buNone/>
            </a:pP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 ✓ App Service Plan ............ created (12s)</a:t>
            </a: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 ✓ App Service ................. created (18s)</a:t>
            </a: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 ✓ SQL Server .................. created (45s)</a:t>
            </a: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 ✓ SQL Database ................ created (22s)</a:t>
            </a: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 ✓ Storage Account ............. created (8s)</a:t>
            </a: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 ✓ Application Insights ........ created (6s)</a:t>
            </a: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 🚀 Deployment complete in 1m 51s</a:t>
            </a:r>
            <a:endParaRPr lang="en-US" sz="1100" dirty="0"/>
          </a:p>
          <a:p>
            <a:pPr indent="0" marL="0">
              <a:lnSpc>
                <a:spcPct val="125000"/>
              </a:lnSpc>
              <a:buNone/>
            </a:pPr>
            <a:r>
              <a:rPr lang="en-US" sz="1100" dirty="0">
                <a:solidFill>
                  <a:srgbClr val="E6EDF3"/>
                </a:solidFill>
                <a:latin typeface="Consolas" pitchFamily="34" charset="0"/>
                <a:ea typeface="Consolas" pitchFamily="34" charset="-122"/>
                <a:cs typeface="Consolas" pitchFamily="34" charset="-120"/>
              </a:rPr>
              <a:t># 🌐 https://freelancer-saas-web.azurewebsites.net</a:t>
            </a:r>
            <a:endParaRPr lang="en-US" sz="1100" dirty="0"/>
          </a:p>
        </p:txBody>
      </p:sp>
      <p:sp>
        <p:nvSpPr>
          <p:cNvPr id="6" name="Shape 4"/>
          <p:cNvSpPr/>
          <p:nvPr/>
        </p:nvSpPr>
        <p:spPr>
          <a:xfrm>
            <a:off x="3200400" y="5577840"/>
            <a:ext cx="5788152" cy="502920"/>
          </a:xfrm>
          <a:prstGeom prst="roundRect">
            <a:avLst>
              <a:gd name="adj" fmla="val 14545"/>
            </a:avLst>
          </a:prstGeom>
          <a:solidFill>
            <a:srgbClr val="0078D4">
              <a:alpha val="15000"/>
            </a:srgbClr>
          </a:solidFill>
          <a:ln w="12700">
            <a:solidFill>
              <a:srgbClr val="0078D4">
                <a:alpha val="40000"/>
              </a:srgbClr>
            </a:solidFill>
            <a:prstDash val="solid"/>
          </a:ln>
        </p:spPr>
      </p:sp>
      <p:sp>
        <p:nvSpPr>
          <p:cNvPr id="7" name="Text 5"/>
          <p:cNvSpPr/>
          <p:nvPr/>
        </p:nvSpPr>
        <p:spPr>
          <a:xfrm>
            <a:off x="3200400" y="5577840"/>
            <a:ext cx="5788152" cy="502920"/>
          </a:xfrm>
          <a:prstGeom prst="rect">
            <a:avLst/>
          </a:prstGeom>
          <a:noFill/>
          <a:ln/>
        </p:spPr>
        <p:txBody>
          <a:bodyPr wrap="square" rtlCol="0" anchor="ctr"/>
          <a:lstStyle/>
          <a:p>
            <a:pPr algn="ctr" indent="0" marL="0">
              <a:buNone/>
            </a:pPr>
            <a:r>
              <a:rPr lang="en-US" sz="1200" b="1" dirty="0">
                <a:solidFill>
                  <a:srgbClr val="50A0E6"/>
                </a:solidFill>
                <a:latin typeface="Segoe UI" pitchFamily="34" charset="0"/>
                <a:ea typeface="Segoe UI" pitchFamily="34" charset="-122"/>
                <a:cs typeface="Segoe UI" pitchFamily="34" charset="-120"/>
              </a:rPr>
              <a:t>🎯 Conversation → running infrastructure: ~2 minutes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1097280"/>
            <a:ext cx="12192000" cy="1371600"/>
          </a:xfrm>
          <a:prstGeom prst="rect">
            <a:avLst/>
          </a:prstGeom>
          <a:noFill/>
          <a:ln/>
        </p:spPr>
        <p:txBody>
          <a:bodyPr wrap="square" rtlCol="0" anchor="ctr"/>
          <a:lstStyle/>
          <a:p>
            <a:pPr algn="ctr" indent="0" marL="0">
              <a:buNone/>
            </a:pPr>
            <a:r>
              <a:rPr lang="en-US" sz="7200" dirty="0">
                <a:solidFill>
                  <a:srgbClr val="000000"/>
                </a:solidFill>
              </a:rPr>
              <a:t>🤯</a:t>
            </a:r>
            <a:endParaRPr lang="en-US" sz="7200" dirty="0"/>
          </a:p>
        </p:txBody>
      </p:sp>
      <p:sp>
        <p:nvSpPr>
          <p:cNvPr id="3" name="Text 1"/>
          <p:cNvSpPr/>
          <p:nvPr/>
        </p:nvSpPr>
        <p:spPr>
          <a:xfrm>
            <a:off x="0" y="2560320"/>
            <a:ext cx="12192000" cy="731520"/>
          </a:xfrm>
          <a:prstGeom prst="rect">
            <a:avLst/>
          </a:prstGeom>
          <a:noFill/>
          <a:ln/>
        </p:spPr>
        <p:txBody>
          <a:bodyPr wrap="square" rtlCol="0" anchor="ctr"/>
          <a:lstStyle/>
          <a:p>
            <a:pPr algn="ctr" indent="0" marL="0">
              <a:buNone/>
            </a:pPr>
            <a:r>
              <a:rPr lang="en-US" sz="3600" b="1" dirty="0">
                <a:solidFill>
                  <a:srgbClr val="FFFFFF"/>
                </a:solidFill>
                <a:latin typeface="Segoe UI" pitchFamily="34" charset="0"/>
                <a:ea typeface="Segoe UI" pitchFamily="34" charset="-122"/>
                <a:cs typeface="Segoe UI" pitchFamily="34" charset="-120"/>
              </a:rPr>
              <a:t>That just happened.</a:t>
            </a:r>
            <a:endParaRPr lang="en-US" sz="3600" dirty="0"/>
          </a:p>
        </p:txBody>
      </p:sp>
      <p:sp>
        <p:nvSpPr>
          <p:cNvPr id="4" name="Text 2"/>
          <p:cNvSpPr/>
          <p:nvPr/>
        </p:nvSpPr>
        <p:spPr>
          <a:xfrm>
            <a:off x="1371600" y="3474720"/>
            <a:ext cx="9445752" cy="914400"/>
          </a:xfrm>
          <a:prstGeom prst="rect">
            <a:avLst/>
          </a:prstGeom>
          <a:noFill/>
          <a:ln/>
        </p:spPr>
        <p:txBody>
          <a:bodyPr wrap="square" rtlCol="0" anchor="ctr"/>
          <a:lstStyle/>
          <a:p>
            <a:pPr algn="ctr" indent="0" marL="0">
              <a:lnSpc>
                <a:spcPct val="140000"/>
              </a:lnSpc>
              <a:buNone/>
            </a:pPr>
            <a:r>
              <a:rPr lang="en-US" sz="1600" dirty="0">
                <a:solidFill>
                  <a:srgbClr val="71717A"/>
                </a:solidFill>
                <a:latin typeface="Segoe UI" pitchFamily="34" charset="0"/>
                <a:ea typeface="Segoe UI" pitchFamily="34" charset="-122"/>
                <a:cs typeface="Segoe UI" pitchFamily="34" charset="-120"/>
              </a:rPr>
              <a:t>Customer described an idea in plain English.
</a:t>
            </a:r>
            <a:pPr algn="ctr" indent="0" marL="0">
              <a:lnSpc>
                <a:spcPct val="140000"/>
              </a:lnSpc>
              <a:buNone/>
            </a:pPr>
            <a:r>
              <a:rPr lang="en-US" sz="1600" dirty="0">
                <a:solidFill>
                  <a:srgbClr val="50A0E6"/>
                </a:solidFill>
                <a:latin typeface="Segoe UI" pitchFamily="34" charset="0"/>
                <a:ea typeface="Segoe UI" pitchFamily="34" charset="-122"/>
                <a:cs typeface="Segoe UI" pitchFamily="34" charset="-120"/>
              </a:rPr>
              <a:t>Minutes later, it's running in Azure.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1097280"/>
            <a:ext cx="12192000" cy="320040"/>
          </a:xfrm>
          <a:prstGeom prst="rect">
            <a:avLst/>
          </a:prstGeom>
          <a:noFill/>
          <a:ln/>
        </p:spPr>
        <p:txBody>
          <a:bodyPr wrap="square" rtlCol="0" anchor="ctr"/>
          <a:lstStyle/>
          <a:p>
            <a:pPr algn="ctr" indent="0" marL="0">
              <a:buNone/>
            </a:pPr>
            <a:r>
              <a:rPr lang="en-US" sz="1100" b="1" dirty="0">
                <a:solidFill>
                  <a:srgbClr val="EF4444"/>
                </a:solidFill>
                <a:latin typeface="Segoe UI" pitchFamily="34" charset="0"/>
                <a:ea typeface="Segoe UI" pitchFamily="34" charset="-122"/>
                <a:cs typeface="Segoe UI" pitchFamily="34" charset="-120"/>
              </a:rPr>
              <a:t>Demo — Operations</a:t>
            </a:r>
            <a:endParaRPr lang="en-US" sz="1100" dirty="0"/>
          </a:p>
        </p:txBody>
      </p:sp>
      <p:sp>
        <p:nvSpPr>
          <p:cNvPr id="3" name="Text 1"/>
          <p:cNvSpPr/>
          <p:nvPr/>
        </p:nvSpPr>
        <p:spPr>
          <a:xfrm>
            <a:off x="0" y="1645920"/>
            <a:ext cx="12192000" cy="1371600"/>
          </a:xfrm>
          <a:prstGeom prst="rect">
            <a:avLst/>
          </a:prstGeom>
          <a:noFill/>
          <a:ln/>
        </p:spPr>
        <p:txBody>
          <a:bodyPr wrap="square" rtlCol="0" anchor="ctr"/>
          <a:lstStyle/>
          <a:p>
            <a:pPr algn="ctr" indent="0" marL="0">
              <a:lnSpc>
                <a:spcPct val="120000"/>
              </a:lnSpc>
              <a:buNone/>
            </a:pPr>
            <a:r>
              <a:rPr lang="en-US" sz="3600" b="1" dirty="0">
                <a:solidFill>
                  <a:srgbClr val="FFFFFF"/>
                </a:solidFill>
                <a:latin typeface="Segoe UI" pitchFamily="34" charset="0"/>
                <a:ea typeface="Segoe UI" pitchFamily="34" charset="-122"/>
                <a:cs typeface="Segoe UI" pitchFamily="34" charset="-120"/>
              </a:rPr>
              <a:t>It's 3 AM.
</a:t>
            </a:r>
            <a:pPr algn="ctr" indent="0" marL="0">
              <a:lnSpc>
                <a:spcPct val="120000"/>
              </a:lnSpc>
              <a:buNone/>
            </a:pPr>
            <a:r>
              <a:rPr lang="en-US" sz="3600" b="1" dirty="0">
                <a:solidFill>
                  <a:srgbClr val="EF4444"/>
                </a:solidFill>
                <a:latin typeface="Segoe UI" pitchFamily="34" charset="0"/>
                <a:ea typeface="Segoe UI" pitchFamily="34" charset="-122"/>
                <a:cs typeface="Segoe UI" pitchFamily="34" charset="-120"/>
              </a:rPr>
              <a:t>Your app is down.</a:t>
            </a:r>
            <a:endParaRPr lang="en-US" sz="3600" dirty="0"/>
          </a:p>
        </p:txBody>
      </p:sp>
      <p:sp>
        <p:nvSpPr>
          <p:cNvPr id="4" name="Text 2"/>
          <p:cNvSpPr/>
          <p:nvPr/>
        </p:nvSpPr>
        <p:spPr>
          <a:xfrm>
            <a:off x="0" y="3200400"/>
            <a:ext cx="12192000" cy="548640"/>
          </a:xfrm>
          <a:prstGeom prst="rect">
            <a:avLst/>
          </a:prstGeom>
          <a:noFill/>
          <a:ln/>
        </p:spPr>
        <p:txBody>
          <a:bodyPr wrap="square" rtlCol="0" anchor="ctr"/>
          <a:lstStyle/>
          <a:p>
            <a:pPr algn="ctr" indent="0" marL="0">
              <a:buNone/>
            </a:pPr>
            <a:r>
              <a:rPr lang="en-US" sz="1600" dirty="0">
                <a:solidFill>
                  <a:srgbClr val="71717A"/>
                </a:solidFill>
                <a:latin typeface="Segoe UI" pitchFamily="34" charset="0"/>
                <a:ea typeface="Segoe UI" pitchFamily="34" charset="-122"/>
                <a:cs typeface="Segoe UI" pitchFamily="34" charset="-120"/>
              </a:rPr>
              <a:t>What does an autonomous agent do?</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914400" y="548640"/>
            <a:ext cx="457200" cy="45720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3" name="Shape 1"/>
          <p:cNvSpPr/>
          <p:nvPr/>
        </p:nvSpPr>
        <p:spPr>
          <a:xfrm>
            <a:off x="1463040" y="457200"/>
            <a:ext cx="7315200" cy="1828800"/>
          </a:xfrm>
          <a:prstGeom prst="roundRect">
            <a:avLst>
              <a:gd name="adj" fmla="val 7500"/>
            </a:avLst>
          </a:prstGeom>
          <a:solidFill>
            <a:srgbClr val="27272A">
              <a:alpha val="60000"/>
            </a:srgbClr>
          </a:solidFill>
          <a:ln w="12700">
            <a:solidFill>
              <a:srgbClr val="3F3F46"/>
            </a:solidFill>
            <a:prstDash val="solid"/>
          </a:ln>
        </p:spPr>
      </p:sp>
      <p:sp>
        <p:nvSpPr>
          <p:cNvPr id="4" name="Text 2"/>
          <p:cNvSpPr/>
          <p:nvPr/>
        </p:nvSpPr>
        <p:spPr>
          <a:xfrm>
            <a:off x="1645920" y="548640"/>
            <a:ext cx="6949440" cy="1645920"/>
          </a:xfrm>
          <a:prstGeom prst="rect">
            <a:avLst/>
          </a:prstGeom>
          <a:noFill/>
          <a:ln/>
        </p:spPr>
        <p:txBody>
          <a:bodyPr wrap="square" rtlCol="0" anchor="ctr"/>
          <a:lstStyle/>
          <a:p>
            <a:pPr indent="0" marL="0">
              <a:lnSpc>
                <a:spcPct val="140000"/>
              </a:lnSpc>
              <a:buNone/>
            </a:pPr>
            <a:r>
              <a:rPr lang="en-US" sz="1200" dirty="0">
                <a:solidFill>
                  <a:srgbClr val="71717A"/>
                </a:solidFill>
                <a:latin typeface="Segoe UI" pitchFamily="34" charset="0"/>
                <a:ea typeface="Segoe UI" pitchFamily="34" charset="-122"/>
                <a:cs typeface="Segoe UI" pitchFamily="34" charset="-120"/>
              </a:rPr>
              <a:t>⚠️ Alert: freelancer-saas-web returning 500s.</a:t>
            </a:r>
            <a:endParaRPr lang="en-US" sz="1200" dirty="0"/>
          </a:p>
          <a:p>
            <a:pPr indent="0" marL="0">
              <a:lnSpc>
                <a:spcPct val="140000"/>
              </a:lnSpc>
              <a:buNone/>
            </a:pPr>
            <a:r>
              <a:rPr lang="en-US" sz="1200" dirty="0">
                <a:solidFill>
                  <a:srgbClr val="71717A"/>
                </a:solidFill>
                <a:latin typeface="Segoe UI" pitchFamily="34" charset="0"/>
                <a:ea typeface="Segoe UI" pitchFamily="34" charset="-122"/>
                <a:cs typeface="Segoe UI" pitchFamily="34" charset="-120"/>
              </a:rPr>
              <a:t>94% error rate in last 5 min.</a:t>
            </a:r>
            <a:endParaRPr lang="en-US" sz="1200" dirty="0"/>
          </a:p>
          <a:p>
            <a:pPr indent="0" marL="0">
              <a:lnSpc>
                <a:spcPct val="140000"/>
              </a:lnSpc>
              <a:buNone/>
            </a:pPr>
            <a:endParaRPr lang="en-US" sz="1200" dirty="0"/>
          </a:p>
          <a:p>
            <a:pPr indent="0" marL="0">
              <a:lnSpc>
                <a:spcPct val="140000"/>
              </a:lnSpc>
              <a:buNone/>
            </a:pPr>
            <a:r>
              <a:rPr lang="en-US" sz="1200" dirty="0">
                <a:solidFill>
                  <a:srgbClr val="71717A"/>
                </a:solidFill>
                <a:latin typeface="Segoe UI" pitchFamily="34" charset="0"/>
                <a:ea typeface="Segoe UI" pitchFamily="34" charset="-122"/>
                <a:cs typeface="Segoe UI" pitchFamily="34" charset="-120"/>
              </a:rPr>
              <a:t>Root cause: DATABASE_URL changed 12 min ago to a non-existent server. Want me to roll back?</a:t>
            </a:r>
            <a:endParaRPr lang="en-US" sz="1200" dirty="0"/>
          </a:p>
        </p:txBody>
      </p:sp>
      <p:sp>
        <p:nvSpPr>
          <p:cNvPr id="5" name="Shape 3"/>
          <p:cNvSpPr/>
          <p:nvPr/>
        </p:nvSpPr>
        <p:spPr>
          <a:xfrm>
            <a:off x="7315200" y="2651760"/>
            <a:ext cx="2743200" cy="548640"/>
          </a:xfrm>
          <a:prstGeom prst="roundRect">
            <a:avLst>
              <a:gd name="adj" fmla="val 20000"/>
            </a:avLst>
          </a:prstGeom>
          <a:solidFill>
            <a:srgbClr val="0078D4">
              <a:alpha val="20000"/>
            </a:srgbClr>
          </a:solidFill>
          <a:ln w="12700">
            <a:solidFill>
              <a:srgbClr val="0078D4">
                <a:alpha val="50000"/>
              </a:srgbClr>
            </a:solidFill>
            <a:prstDash val="solid"/>
          </a:ln>
        </p:spPr>
      </p:sp>
      <p:sp>
        <p:nvSpPr>
          <p:cNvPr id="6" name="Text 4"/>
          <p:cNvSpPr/>
          <p:nvPr/>
        </p:nvSpPr>
        <p:spPr>
          <a:xfrm>
            <a:off x="7315200" y="2651760"/>
            <a:ext cx="2468880" cy="548640"/>
          </a:xfrm>
          <a:prstGeom prst="rect">
            <a:avLst/>
          </a:prstGeom>
          <a:noFill/>
          <a:ln/>
        </p:spPr>
        <p:txBody>
          <a:bodyPr wrap="square" rtlCol="0" anchor="ctr"/>
          <a:lstStyle/>
          <a:p>
            <a:pPr algn="ctr" indent="0" marL="0">
              <a:buNone/>
            </a:pPr>
            <a:r>
              <a:rPr lang="en-US" sz="1300" dirty="0">
                <a:solidFill>
                  <a:srgbClr val="FFFFFF"/>
                </a:solidFill>
                <a:latin typeface="Segoe UI" pitchFamily="34" charset="0"/>
                <a:ea typeface="Segoe UI" pitchFamily="34" charset="-122"/>
                <a:cs typeface="Segoe UI" pitchFamily="34" charset="-120"/>
              </a:rPr>
              <a:t>Roll it back</a:t>
            </a:r>
            <a:endParaRPr lang="en-US" sz="1300" dirty="0"/>
          </a:p>
        </p:txBody>
      </p:sp>
      <p:sp>
        <p:nvSpPr>
          <p:cNvPr id="7" name="Text 5"/>
          <p:cNvSpPr/>
          <p:nvPr/>
        </p:nvSpPr>
        <p:spPr>
          <a:xfrm>
            <a:off x="10149840" y="2651760"/>
            <a:ext cx="457200" cy="45720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8" name="Text 6"/>
          <p:cNvSpPr/>
          <p:nvPr/>
        </p:nvSpPr>
        <p:spPr>
          <a:xfrm>
            <a:off x="914400" y="3474720"/>
            <a:ext cx="457200" cy="45720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9" name="Shape 7"/>
          <p:cNvSpPr/>
          <p:nvPr/>
        </p:nvSpPr>
        <p:spPr>
          <a:xfrm>
            <a:off x="1463040" y="3474720"/>
            <a:ext cx="6400800" cy="1463040"/>
          </a:xfrm>
          <a:prstGeom prst="roundRect">
            <a:avLst>
              <a:gd name="adj" fmla="val 9375"/>
            </a:avLst>
          </a:prstGeom>
          <a:solidFill>
            <a:srgbClr val="27272A">
              <a:alpha val="60000"/>
            </a:srgbClr>
          </a:solidFill>
          <a:ln w="12700">
            <a:solidFill>
              <a:srgbClr val="3F3F46"/>
            </a:solidFill>
            <a:prstDash val="solid"/>
          </a:ln>
        </p:spPr>
      </p:sp>
      <p:sp>
        <p:nvSpPr>
          <p:cNvPr id="10" name="Text 8"/>
          <p:cNvSpPr/>
          <p:nvPr/>
        </p:nvSpPr>
        <p:spPr>
          <a:xfrm>
            <a:off x="1645920" y="3566160"/>
            <a:ext cx="6035040" cy="1280160"/>
          </a:xfrm>
          <a:prstGeom prst="rect">
            <a:avLst/>
          </a:prstGeom>
          <a:noFill/>
          <a:ln/>
        </p:spPr>
        <p:txBody>
          <a:bodyPr wrap="square" rtlCol="0" anchor="ctr"/>
          <a:lstStyle/>
          <a:p>
            <a:pPr indent="0" marL="0">
              <a:lnSpc>
                <a:spcPct val="140000"/>
              </a:lnSpc>
              <a:buNone/>
            </a:pPr>
            <a:r>
              <a:rPr lang="en-US" sz="1200" dirty="0">
                <a:solidFill>
                  <a:srgbClr val="71717A"/>
                </a:solidFill>
                <a:latin typeface="Segoe UI" pitchFamily="34" charset="0"/>
                <a:ea typeface="Segoe UI" pitchFamily="34" charset="-122"/>
                <a:cs typeface="Segoe UI" pitchFamily="34" charset="-120"/>
              </a:rPr>
              <a:t>✅ Config reverted. App restarted.</a:t>
            </a:r>
            <a:endParaRPr lang="en-US" sz="1200" dirty="0"/>
          </a:p>
          <a:p>
            <a:pPr indent="0" marL="0">
              <a:lnSpc>
                <a:spcPct val="140000"/>
              </a:lnSpc>
              <a:buNone/>
            </a:pPr>
            <a:r>
              <a:rPr lang="en-US" sz="1200" dirty="0">
                <a:solidFill>
                  <a:srgbClr val="71717A"/>
                </a:solidFill>
                <a:latin typeface="Segoe UI" pitchFamily="34" charset="0"/>
                <a:ea typeface="Segoe UI" pitchFamily="34" charset="-122"/>
                <a:cs typeface="Segoe UI" pitchFamily="34" charset="-120"/>
              </a:rPr>
              <a:t>0% error rate. 142ms response time.</a:t>
            </a:r>
            <a:endParaRPr lang="en-US" sz="1200" dirty="0"/>
          </a:p>
          <a:p>
            <a:pPr indent="0" marL="0">
              <a:lnSpc>
                <a:spcPct val="140000"/>
              </a:lnSpc>
              <a:buNone/>
            </a:pPr>
            <a:endParaRPr lang="en-US" sz="1200" dirty="0"/>
          </a:p>
          <a:p>
            <a:pPr indent="0" marL="0">
              <a:lnSpc>
                <a:spcPct val="140000"/>
              </a:lnSpc>
              <a:buNone/>
            </a:pPr>
            <a:r>
              <a:rPr lang="en-US" sz="1200" dirty="0">
                <a:solidFill>
                  <a:srgbClr val="71717A"/>
                </a:solidFill>
                <a:latin typeface="Segoe UI" pitchFamily="34" charset="0"/>
                <a:ea typeface="Segoe UI" pitchFamily="34" charset="-122"/>
                <a:cs typeface="Segoe UI" pitchFamily="34" charset="-120"/>
              </a:rPr>
              <a:t>Post-incident report → Notion link</a:t>
            </a:r>
            <a:endParaRPr lang="en-US" sz="1200" dirty="0"/>
          </a:p>
        </p:txBody>
      </p:sp>
      <p:sp>
        <p:nvSpPr>
          <p:cNvPr id="11" name="Text 9"/>
          <p:cNvSpPr/>
          <p:nvPr/>
        </p:nvSpPr>
        <p:spPr>
          <a:xfrm>
            <a:off x="0" y="5303520"/>
            <a:ext cx="12192000" cy="731520"/>
          </a:xfrm>
          <a:prstGeom prst="rect">
            <a:avLst/>
          </a:prstGeom>
          <a:noFill/>
          <a:ln/>
        </p:spPr>
        <p:txBody>
          <a:bodyPr wrap="square" rtlCol="0" anchor="ctr"/>
          <a:lstStyle/>
          <a:p>
            <a:pPr algn="ctr" indent="0" marL="0">
              <a:buNone/>
            </a:pPr>
            <a:r>
              <a:rPr lang="en-US" sz="1200" dirty="0">
                <a:solidFill>
                  <a:srgbClr val="52525B"/>
                </a:solidFill>
                <a:latin typeface="Segoe UI" pitchFamily="34" charset="0"/>
                <a:ea typeface="Segoe UI" pitchFamily="34" charset="-122"/>
                <a:cs typeface="Segoe UI" pitchFamily="34" charset="-120"/>
              </a:rPr>
              <a:t>Two words from your phone. Incident resolved. Report generated.</a:t>
            </a:r>
            <a:endParaRPr lang="en-US" sz="1200" dirty="0"/>
          </a:p>
          <a:p>
            <a:pPr algn="ctr" indent="0" marL="0">
              <a:buNone/>
            </a:pPr>
            <a:r>
              <a:rPr lang="en-US" sz="1200" dirty="0">
                <a:solidFill>
                  <a:srgbClr val="52525B"/>
                </a:solidFill>
                <a:latin typeface="Segoe UI" pitchFamily="34" charset="0"/>
                <a:ea typeface="Segoe UI" pitchFamily="34" charset="-122"/>
                <a:cs typeface="Segoe UI" pitchFamily="34" charset="-120"/>
              </a:rPr>
              <a:t>What would normally take 30 minutes took 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182880"/>
            <a:ext cx="12192000" cy="320040"/>
          </a:xfrm>
          <a:prstGeom prst="rect">
            <a:avLst/>
          </a:prstGeom>
          <a:noFill/>
          <a:ln/>
        </p:spPr>
        <p:txBody>
          <a:bodyPr wrap="square" rtlCol="0" anchor="ctr"/>
          <a:lstStyle/>
          <a:p>
            <a:pPr algn="ctr" indent="0" marL="0">
              <a:buNone/>
            </a:pPr>
            <a:r>
              <a:rPr lang="en-US" sz="1100" b="1" dirty="0">
                <a:solidFill>
                  <a:srgbClr val="F59E0B"/>
                </a:solidFill>
                <a:latin typeface="Segoe UI" pitchFamily="34" charset="0"/>
                <a:ea typeface="Segoe UI" pitchFamily="34" charset="-122"/>
                <a:cs typeface="Segoe UI" pitchFamily="34" charset="-120"/>
              </a:rPr>
              <a:t>Demo — FinOps</a:t>
            </a:r>
            <a:endParaRPr lang="en-US" sz="1100" dirty="0"/>
          </a:p>
        </p:txBody>
      </p:sp>
      <p:sp>
        <p:nvSpPr>
          <p:cNvPr id="3" name="Text 1"/>
          <p:cNvSpPr/>
          <p:nvPr/>
        </p:nvSpPr>
        <p:spPr>
          <a:xfrm>
            <a:off x="0" y="548640"/>
            <a:ext cx="12192000" cy="548640"/>
          </a:xfrm>
          <a:prstGeom prst="rect">
            <a:avLst/>
          </a:prstGeom>
          <a:noFill/>
          <a:ln/>
        </p:spPr>
        <p:txBody>
          <a:bodyPr wrap="square"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Your Azure bill: </a:t>
            </a:r>
            <a:pPr algn="ctr" indent="0" marL="0">
              <a:buNone/>
            </a:pPr>
            <a:r>
              <a:rPr lang="en-US" sz="2400" b="1" dirty="0">
                <a:solidFill>
                  <a:srgbClr val="F59E0B"/>
                </a:solidFill>
                <a:latin typeface="Segoe UI" pitchFamily="34" charset="0"/>
                <a:ea typeface="Segoe UI" pitchFamily="34" charset="-122"/>
                <a:cs typeface="Segoe UI" pitchFamily="34" charset="-120"/>
              </a:rPr>
              <a:t>€40K/month</a:t>
            </a:r>
            <a:endParaRPr lang="en-US" sz="2400" dirty="0"/>
          </a:p>
        </p:txBody>
      </p:sp>
      <p:sp>
        <p:nvSpPr>
          <p:cNvPr id="4" name="Shape 2"/>
          <p:cNvSpPr/>
          <p:nvPr/>
        </p:nvSpPr>
        <p:spPr>
          <a:xfrm>
            <a:off x="1371600" y="1280160"/>
            <a:ext cx="9445752" cy="3200400"/>
          </a:xfrm>
          <a:prstGeom prst="roundRect">
            <a:avLst>
              <a:gd name="adj" fmla="val 3429"/>
            </a:avLst>
          </a:prstGeom>
          <a:solidFill>
            <a:srgbClr val="161B22"/>
          </a:solidFill>
          <a:ln w="12700">
            <a:solidFill>
              <a:srgbClr val="30363D"/>
            </a:solidFill>
            <a:prstDash val="solid"/>
          </a:ln>
        </p:spPr>
      </p:sp>
      <p:sp>
        <p:nvSpPr>
          <p:cNvPr id="5" name="Text 3"/>
          <p:cNvSpPr/>
          <p:nvPr/>
        </p:nvSpPr>
        <p:spPr>
          <a:xfrm>
            <a:off x="1645920" y="1371600"/>
            <a:ext cx="8897112" cy="3017520"/>
          </a:xfrm>
          <a:prstGeom prst="rect">
            <a:avLst/>
          </a:prstGeom>
          <a:noFill/>
          <a:ln/>
        </p:spPr>
        <p:txBody>
          <a:bodyPr wrap="square" rtlCol="0" anchor="t"/>
          <a:lstStyle/>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Agent queries Cost Management API:</a:t>
            </a:r>
            <a:endParaRPr lang="en-US" sz="1050" dirty="0"/>
          </a:p>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 Issue                               │ Savings │</a:t>
            </a:r>
            <a:endParaRPr lang="en-US" sz="1050" dirty="0"/>
          </a:p>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 12 VMs at 8% CPU (D4s → B2ms)      │  €4,800 │</a:t>
            </a:r>
            <a:endParaRPr lang="en-US" sz="1050" dirty="0"/>
          </a:p>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 Dev/test running 24/7               │  €2,600 │</a:t>
            </a:r>
            <a:endParaRPr lang="en-US" sz="1050" dirty="0"/>
          </a:p>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 23 orphaned disks                   │  €1,100 │</a:t>
            </a:r>
            <a:endParaRPr lang="en-US" sz="1050" dirty="0"/>
          </a:p>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 8 unused public IPs                 │    €320 │</a:t>
            </a:r>
            <a:endParaRPr lang="en-US" sz="1050" dirty="0"/>
          </a:p>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 No reserved instances               │  €3,200 │</a:t>
            </a:r>
            <a:endParaRPr lang="en-US" sz="1050" dirty="0"/>
          </a:p>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 Premium storage on cold data        │  €1,400 │</a:t>
            </a:r>
            <a:endParaRPr lang="en-US" sz="1050" dirty="0"/>
          </a:p>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 TOTAL MONTHLY SAVINGS               │ €13,420 │</a:t>
            </a:r>
            <a:endParaRPr lang="en-US" sz="1050" dirty="0"/>
          </a:p>
          <a:p>
            <a:pPr indent="0" marL="0">
              <a:lnSpc>
                <a:spcPct val="120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p:txBody>
      </p:sp>
      <p:sp>
        <p:nvSpPr>
          <p:cNvPr id="6" name="Text 4"/>
          <p:cNvSpPr/>
          <p:nvPr/>
        </p:nvSpPr>
        <p:spPr>
          <a:xfrm>
            <a:off x="1828800" y="4754880"/>
            <a:ext cx="2743200" cy="731520"/>
          </a:xfrm>
          <a:prstGeom prst="rect">
            <a:avLst/>
          </a:prstGeom>
          <a:noFill/>
          <a:ln/>
        </p:spPr>
        <p:txBody>
          <a:bodyPr wrap="square" rtlCol="0" anchor="ctr"/>
          <a:lstStyle/>
          <a:p>
            <a:pPr algn="ctr" indent="0" marL="0">
              <a:buNone/>
            </a:pPr>
            <a:r>
              <a:rPr lang="en-US" sz="3600" b="1" dirty="0">
                <a:solidFill>
                  <a:srgbClr val="F59E0B"/>
                </a:solidFill>
                <a:latin typeface="Segoe UI" pitchFamily="34" charset="0"/>
                <a:ea typeface="Segoe UI" pitchFamily="34" charset="-122"/>
                <a:cs typeface="Segoe UI" pitchFamily="34" charset="-120"/>
              </a:rPr>
              <a:t>€160K</a:t>
            </a:r>
            <a:endParaRPr lang="en-US" sz="3600" dirty="0"/>
          </a:p>
        </p:txBody>
      </p:sp>
      <p:sp>
        <p:nvSpPr>
          <p:cNvPr id="7" name="Text 5"/>
          <p:cNvSpPr/>
          <p:nvPr/>
        </p:nvSpPr>
        <p:spPr>
          <a:xfrm>
            <a:off x="1828800" y="5394960"/>
            <a:ext cx="2743200" cy="365760"/>
          </a:xfrm>
          <a:prstGeom prst="rect">
            <a:avLst/>
          </a:prstGeom>
          <a:noFill/>
          <a:ln/>
        </p:spPr>
        <p:txBody>
          <a:bodyPr wrap="square" rtlCol="0" anchor="ctr"/>
          <a:lstStyle/>
          <a:p>
            <a:pPr algn="ctr" indent="0" marL="0">
              <a:buNone/>
            </a:pPr>
            <a:r>
              <a:rPr lang="en-US" sz="1000" dirty="0">
                <a:solidFill>
                  <a:srgbClr val="52525B"/>
                </a:solidFill>
                <a:latin typeface="Segoe UI" pitchFamily="34" charset="0"/>
                <a:ea typeface="Segoe UI" pitchFamily="34" charset="-122"/>
                <a:cs typeface="Segoe UI" pitchFamily="34" charset="-120"/>
              </a:rPr>
              <a:t>Annual savings</a:t>
            </a:r>
            <a:endParaRPr lang="en-US" sz="1000" dirty="0"/>
          </a:p>
        </p:txBody>
      </p:sp>
      <p:sp>
        <p:nvSpPr>
          <p:cNvPr id="8" name="Text 6"/>
          <p:cNvSpPr/>
          <p:nvPr/>
        </p:nvSpPr>
        <p:spPr>
          <a:xfrm>
            <a:off x="5029200" y="4754880"/>
            <a:ext cx="2743200" cy="731520"/>
          </a:xfrm>
          <a:prstGeom prst="rect">
            <a:avLst/>
          </a:prstGeom>
          <a:noFill/>
          <a:ln/>
        </p:spPr>
        <p:txBody>
          <a:bodyPr wrap="square" rtlCol="0" anchor="ctr"/>
          <a:lstStyle/>
          <a:p>
            <a:pPr algn="ctr" indent="0" marL="0">
              <a:buNone/>
            </a:pPr>
            <a:r>
              <a:rPr lang="en-US" sz="3600" b="1" dirty="0">
                <a:solidFill>
                  <a:srgbClr val="10B981"/>
                </a:solidFill>
                <a:latin typeface="Segoe UI" pitchFamily="34" charset="0"/>
                <a:ea typeface="Segoe UI" pitchFamily="34" charset="-122"/>
                <a:cs typeface="Segoe UI" pitchFamily="34" charset="-120"/>
              </a:rPr>
              <a:t>12 min</a:t>
            </a:r>
            <a:endParaRPr lang="en-US" sz="3600" dirty="0"/>
          </a:p>
        </p:txBody>
      </p:sp>
      <p:sp>
        <p:nvSpPr>
          <p:cNvPr id="9" name="Text 7"/>
          <p:cNvSpPr/>
          <p:nvPr/>
        </p:nvSpPr>
        <p:spPr>
          <a:xfrm>
            <a:off x="5029200" y="5394960"/>
            <a:ext cx="2743200" cy="365760"/>
          </a:xfrm>
          <a:prstGeom prst="rect">
            <a:avLst/>
          </a:prstGeom>
          <a:noFill/>
          <a:ln/>
        </p:spPr>
        <p:txBody>
          <a:bodyPr wrap="square" rtlCol="0" anchor="ctr"/>
          <a:lstStyle/>
          <a:p>
            <a:pPr algn="ctr" indent="0" marL="0">
              <a:buNone/>
            </a:pPr>
            <a:r>
              <a:rPr lang="en-US" sz="1000" dirty="0">
                <a:solidFill>
                  <a:srgbClr val="52525B"/>
                </a:solidFill>
                <a:latin typeface="Segoe UI" pitchFamily="34" charset="0"/>
                <a:ea typeface="Segoe UI" pitchFamily="34" charset="-122"/>
                <a:cs typeface="Segoe UI" pitchFamily="34" charset="-120"/>
              </a:rPr>
              <a:t>Time to find &amp; fix</a:t>
            </a:r>
            <a:endParaRPr lang="en-US" sz="1000" dirty="0"/>
          </a:p>
        </p:txBody>
      </p:sp>
      <p:sp>
        <p:nvSpPr>
          <p:cNvPr id="10" name="Text 8"/>
          <p:cNvSpPr/>
          <p:nvPr/>
        </p:nvSpPr>
        <p:spPr>
          <a:xfrm>
            <a:off x="8229600" y="4754880"/>
            <a:ext cx="2743200" cy="731520"/>
          </a:xfrm>
          <a:prstGeom prst="rect">
            <a:avLst/>
          </a:prstGeom>
          <a:noFill/>
          <a:ln/>
        </p:spPr>
        <p:txBody>
          <a:bodyPr wrap="square" rtlCol="0" anchor="ctr"/>
          <a:lstStyle/>
          <a:p>
            <a:pPr algn="ctr" indent="0" marL="0">
              <a:buNone/>
            </a:pPr>
            <a:r>
              <a:rPr lang="en-US" sz="3600" b="1" dirty="0">
                <a:solidFill>
                  <a:srgbClr val="50A0E6"/>
                </a:solidFill>
                <a:latin typeface="Segoe UI" pitchFamily="34" charset="0"/>
                <a:ea typeface="Segoe UI" pitchFamily="34" charset="-122"/>
                <a:cs typeface="Segoe UI" pitchFamily="34" charset="-120"/>
              </a:rPr>
              <a:t>1</a:t>
            </a:r>
            <a:endParaRPr lang="en-US" sz="3600" dirty="0"/>
          </a:p>
        </p:txBody>
      </p:sp>
      <p:sp>
        <p:nvSpPr>
          <p:cNvPr id="11" name="Text 9"/>
          <p:cNvSpPr/>
          <p:nvPr/>
        </p:nvSpPr>
        <p:spPr>
          <a:xfrm>
            <a:off x="8229600" y="5394960"/>
            <a:ext cx="2743200" cy="365760"/>
          </a:xfrm>
          <a:prstGeom prst="rect">
            <a:avLst/>
          </a:prstGeom>
          <a:noFill/>
          <a:ln/>
        </p:spPr>
        <p:txBody>
          <a:bodyPr wrap="square" rtlCol="0" anchor="ctr"/>
          <a:lstStyle/>
          <a:p>
            <a:pPr algn="ctr" indent="0" marL="0">
              <a:buNone/>
            </a:pPr>
            <a:r>
              <a:rPr lang="en-US" sz="1000" dirty="0">
                <a:solidFill>
                  <a:srgbClr val="52525B"/>
                </a:solidFill>
                <a:latin typeface="Segoe UI" pitchFamily="34" charset="0"/>
                <a:ea typeface="Segoe UI" pitchFamily="34" charset="-122"/>
                <a:cs typeface="Segoe UI" pitchFamily="34" charset="-120"/>
              </a:rPr>
              <a:t>Conversation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1371600"/>
            <a:ext cx="12192000" cy="320040"/>
          </a:xfrm>
          <a:prstGeom prst="rect">
            <a:avLst/>
          </a:prstGeom>
          <a:noFill/>
          <a:ln/>
        </p:spPr>
        <p:txBody>
          <a:bodyPr wrap="square" rtlCol="0" anchor="ctr"/>
          <a:lstStyle/>
          <a:p>
            <a:pPr algn="ctr" indent="0" marL="0">
              <a:buNone/>
            </a:pPr>
            <a:r>
              <a:rPr lang="en-US" sz="1100" b="1" dirty="0">
                <a:solidFill>
                  <a:srgbClr val="EF4444"/>
                </a:solidFill>
                <a:latin typeface="Segoe UI" pitchFamily="34" charset="0"/>
                <a:ea typeface="Segoe UI" pitchFamily="34" charset="-122"/>
                <a:cs typeface="Segoe UI" pitchFamily="34" charset="-120"/>
              </a:rPr>
              <a:t>The Serious Part</a:t>
            </a:r>
            <a:endParaRPr lang="en-US" sz="1100" dirty="0"/>
          </a:p>
        </p:txBody>
      </p:sp>
      <p:sp>
        <p:nvSpPr>
          <p:cNvPr id="3" name="Text 1"/>
          <p:cNvSpPr/>
          <p:nvPr/>
        </p:nvSpPr>
        <p:spPr>
          <a:xfrm>
            <a:off x="0" y="1828800"/>
            <a:ext cx="12192000" cy="1371600"/>
          </a:xfrm>
          <a:prstGeom prst="rect">
            <a:avLst/>
          </a:prstGeom>
          <a:noFill/>
          <a:ln/>
        </p:spPr>
        <p:txBody>
          <a:bodyPr wrap="square" rtlCol="0" anchor="ctr"/>
          <a:lstStyle/>
          <a:p>
            <a:pPr algn="ctr" indent="0" marL="0">
              <a:lnSpc>
                <a:spcPct val="110000"/>
              </a:lnSpc>
              <a:buNone/>
            </a:pPr>
            <a:r>
              <a:rPr lang="en-US" sz="3800" b="1" dirty="0">
                <a:solidFill>
                  <a:srgbClr val="FFFFFF"/>
                </a:solidFill>
                <a:latin typeface="Segoe UI" pitchFamily="34" charset="0"/>
                <a:ea typeface="Segoe UI" pitchFamily="34" charset="-122"/>
                <a:cs typeface="Segoe UI" pitchFamily="34" charset="-120"/>
              </a:rPr>
              <a:t>"But isn't this
</a:t>
            </a:r>
            <a:pPr algn="ctr" indent="0" marL="0">
              <a:lnSpc>
                <a:spcPct val="110000"/>
              </a:lnSpc>
              <a:buNone/>
            </a:pPr>
            <a:r>
              <a:rPr lang="en-US" sz="3800" b="1" dirty="0">
                <a:solidFill>
                  <a:srgbClr val="EF4444"/>
                </a:solidFill>
                <a:latin typeface="Segoe UI" pitchFamily="34" charset="0"/>
                <a:ea typeface="Segoe UI" pitchFamily="34" charset="-122"/>
                <a:cs typeface="Segoe UI" pitchFamily="34" charset="-120"/>
              </a:rPr>
              <a:t>dangerous?"</a:t>
            </a:r>
            <a:endParaRPr lang="en-US" sz="3800" dirty="0"/>
          </a:p>
        </p:txBody>
      </p:sp>
      <p:sp>
        <p:nvSpPr>
          <p:cNvPr id="4" name="Text 2"/>
          <p:cNvSpPr/>
          <p:nvPr/>
        </p:nvSpPr>
        <p:spPr>
          <a:xfrm>
            <a:off x="0" y="3474720"/>
            <a:ext cx="12192000" cy="457200"/>
          </a:xfrm>
          <a:prstGeom prst="rect">
            <a:avLst/>
          </a:prstGeom>
          <a:noFill/>
          <a:ln/>
        </p:spPr>
        <p:txBody>
          <a:bodyPr wrap="square" rtlCol="0" anchor="ctr"/>
          <a:lstStyle/>
          <a:p>
            <a:pPr algn="ctr" indent="0" marL="0">
              <a:buNone/>
            </a:pPr>
            <a:r>
              <a:rPr lang="en-US" sz="1600" dirty="0">
                <a:solidFill>
                  <a:srgbClr val="71717A"/>
                </a:solidFill>
                <a:latin typeface="Segoe UI" pitchFamily="34" charset="0"/>
                <a:ea typeface="Segoe UI" pitchFamily="34" charset="-122"/>
                <a:cs typeface="Segoe UI" pitchFamily="34" charset="-120"/>
              </a:rPr>
              <a:t>Let's talk about what can go wrong.</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365760"/>
            <a:ext cx="12192000" cy="640080"/>
          </a:xfrm>
          <a:prstGeom prst="rect">
            <a:avLst/>
          </a:prstGeom>
          <a:noFill/>
          <a:ln/>
        </p:spPr>
        <p:txBody>
          <a:bodyPr wrap="square" rtlCol="0" anchor="ctr"/>
          <a:lstStyle/>
          <a:p>
            <a:pPr algn="ctr" indent="0" marL="0">
              <a:buNone/>
            </a:pPr>
            <a:r>
              <a:rPr lang="en-US" sz="2800" b="1" dirty="0">
                <a:solidFill>
                  <a:srgbClr val="FFFFFF"/>
                </a:solidFill>
                <a:latin typeface="Segoe UI" pitchFamily="34" charset="0"/>
                <a:ea typeface="Segoe UI" pitchFamily="34" charset="-122"/>
                <a:cs typeface="Segoe UI" pitchFamily="34" charset="-120"/>
              </a:rPr>
              <a:t>What can go </a:t>
            </a:r>
            <a:pPr algn="ctr" indent="0" marL="0">
              <a:buNone/>
            </a:pPr>
            <a:r>
              <a:rPr lang="en-US" sz="2800" b="1" dirty="0">
                <a:solidFill>
                  <a:srgbClr val="EF4444"/>
                </a:solidFill>
                <a:latin typeface="Segoe UI" pitchFamily="34" charset="0"/>
                <a:ea typeface="Segoe UI" pitchFamily="34" charset="-122"/>
                <a:cs typeface="Segoe UI" pitchFamily="34" charset="-120"/>
              </a:rPr>
              <a:t>wrong</a:t>
            </a:r>
            <a:pPr algn="ctr" indent="0" marL="0">
              <a:buNone/>
            </a:pPr>
            <a:r>
              <a:rPr lang="en-US" sz="2800" b="1" dirty="0">
                <a:solidFill>
                  <a:srgbClr val="FFFFFF"/>
                </a:solidFill>
                <a:latin typeface="Segoe UI" pitchFamily="34" charset="0"/>
                <a:ea typeface="Segoe UI" pitchFamily="34" charset="-122"/>
                <a:cs typeface="Segoe UI" pitchFamily="34" charset="-120"/>
              </a:rPr>
              <a:t>?</a:t>
            </a:r>
            <a:endParaRPr lang="en-US" sz="2800" dirty="0"/>
          </a:p>
        </p:txBody>
      </p:sp>
      <p:sp>
        <p:nvSpPr>
          <p:cNvPr id="3" name="Shape 1"/>
          <p:cNvSpPr/>
          <p:nvPr/>
        </p:nvSpPr>
        <p:spPr>
          <a:xfrm>
            <a:off x="548640" y="1280160"/>
            <a:ext cx="5303520" cy="1828800"/>
          </a:xfrm>
          <a:prstGeom prst="roundRect">
            <a:avLst>
              <a:gd name="adj" fmla="val 6000"/>
            </a:avLst>
          </a:prstGeom>
          <a:solidFill>
            <a:srgbClr val="27272A">
              <a:alpha val="60000"/>
            </a:srgbClr>
          </a:solidFill>
          <a:ln w="12700">
            <a:solidFill>
              <a:srgbClr val="EF4444">
                <a:alpha val="40000"/>
              </a:srgbClr>
            </a:solidFill>
            <a:prstDash val="solid"/>
          </a:ln>
        </p:spPr>
      </p:sp>
      <p:sp>
        <p:nvSpPr>
          <p:cNvPr id="4" name="Text 2"/>
          <p:cNvSpPr/>
          <p:nvPr/>
        </p:nvSpPr>
        <p:spPr>
          <a:xfrm>
            <a:off x="822960" y="1417320"/>
            <a:ext cx="4754880" cy="411480"/>
          </a:xfrm>
          <a:prstGeom prst="rect">
            <a:avLst/>
          </a:prstGeom>
          <a:noFill/>
          <a:ln/>
        </p:spPr>
        <p:txBody>
          <a:bodyPr wrap="square" rtlCol="0" anchor="ctr"/>
          <a:lstStyle/>
          <a:p>
            <a:pPr indent="0" marL="0">
              <a:buNone/>
            </a:pPr>
            <a:r>
              <a:rPr lang="en-US" sz="1500" b="1" dirty="0">
                <a:solidFill>
                  <a:srgbClr val="EF4444"/>
                </a:solidFill>
                <a:latin typeface="Segoe UI" pitchFamily="34" charset="0"/>
                <a:ea typeface="Segoe UI" pitchFamily="34" charset="-122"/>
                <a:cs typeface="Segoe UI" pitchFamily="34" charset="-120"/>
              </a:rPr>
              <a:t>Misinterpretation</a:t>
            </a:r>
            <a:endParaRPr lang="en-US" sz="1500" dirty="0"/>
          </a:p>
        </p:txBody>
      </p:sp>
      <p:sp>
        <p:nvSpPr>
          <p:cNvPr id="5" name="Text 3"/>
          <p:cNvSpPr/>
          <p:nvPr/>
        </p:nvSpPr>
        <p:spPr>
          <a:xfrm>
            <a:off x="822960" y="1874520"/>
            <a:ext cx="4754880" cy="100584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"Delete the test environment" → deletes production. Ambiguous commands are the #1 risk.</a:t>
            </a:r>
            <a:endParaRPr lang="en-US" sz="1100" dirty="0"/>
          </a:p>
        </p:txBody>
      </p:sp>
      <p:sp>
        <p:nvSpPr>
          <p:cNvPr id="6" name="Shape 4"/>
          <p:cNvSpPr/>
          <p:nvPr/>
        </p:nvSpPr>
        <p:spPr>
          <a:xfrm>
            <a:off x="6217920" y="1280160"/>
            <a:ext cx="5303520" cy="1828800"/>
          </a:xfrm>
          <a:prstGeom prst="roundRect">
            <a:avLst>
              <a:gd name="adj" fmla="val 6000"/>
            </a:avLst>
          </a:prstGeom>
          <a:solidFill>
            <a:srgbClr val="27272A">
              <a:alpha val="60000"/>
            </a:srgbClr>
          </a:solidFill>
          <a:ln w="12700">
            <a:solidFill>
              <a:srgbClr val="EF4444">
                <a:alpha val="40000"/>
              </a:srgbClr>
            </a:solidFill>
            <a:prstDash val="solid"/>
          </a:ln>
        </p:spPr>
      </p:sp>
      <p:sp>
        <p:nvSpPr>
          <p:cNvPr id="7" name="Text 5"/>
          <p:cNvSpPr/>
          <p:nvPr/>
        </p:nvSpPr>
        <p:spPr>
          <a:xfrm>
            <a:off x="6492240" y="1417320"/>
            <a:ext cx="4754880" cy="411480"/>
          </a:xfrm>
          <a:prstGeom prst="rect">
            <a:avLst/>
          </a:prstGeom>
          <a:noFill/>
          <a:ln/>
        </p:spPr>
        <p:txBody>
          <a:bodyPr wrap="square" rtlCol="0" anchor="ctr"/>
          <a:lstStyle/>
          <a:p>
            <a:pPr indent="0" marL="0">
              <a:buNone/>
            </a:pPr>
            <a:r>
              <a:rPr lang="en-US" sz="1500" b="1" dirty="0">
                <a:solidFill>
                  <a:srgbClr val="EF4444"/>
                </a:solidFill>
                <a:latin typeface="Segoe UI" pitchFamily="34" charset="0"/>
                <a:ea typeface="Segoe UI" pitchFamily="34" charset="-122"/>
                <a:cs typeface="Segoe UI" pitchFamily="34" charset="-120"/>
              </a:rPr>
              <a:t>Over-provisioning</a:t>
            </a:r>
            <a:endParaRPr lang="en-US" sz="1500" dirty="0"/>
          </a:p>
        </p:txBody>
      </p:sp>
      <p:sp>
        <p:nvSpPr>
          <p:cNvPr id="8" name="Text 6"/>
          <p:cNvSpPr/>
          <p:nvPr/>
        </p:nvSpPr>
        <p:spPr>
          <a:xfrm>
            <a:off x="6492240" y="1874520"/>
            <a:ext cx="4754880" cy="100584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Agent spins up D64s_v5 when B2ms would do. LLMs default to "more" unless constrained.</a:t>
            </a:r>
            <a:endParaRPr lang="en-US" sz="1100" dirty="0"/>
          </a:p>
        </p:txBody>
      </p:sp>
      <p:sp>
        <p:nvSpPr>
          <p:cNvPr id="9" name="Shape 7"/>
          <p:cNvSpPr/>
          <p:nvPr/>
        </p:nvSpPr>
        <p:spPr>
          <a:xfrm>
            <a:off x="548640" y="3474720"/>
            <a:ext cx="5303520" cy="1828800"/>
          </a:xfrm>
          <a:prstGeom prst="roundRect">
            <a:avLst>
              <a:gd name="adj" fmla="val 6000"/>
            </a:avLst>
          </a:prstGeom>
          <a:solidFill>
            <a:srgbClr val="27272A">
              <a:alpha val="60000"/>
            </a:srgbClr>
          </a:solidFill>
          <a:ln w="12700">
            <a:solidFill>
              <a:srgbClr val="EF4444">
                <a:alpha val="40000"/>
              </a:srgbClr>
            </a:solidFill>
            <a:prstDash val="solid"/>
          </a:ln>
        </p:spPr>
      </p:sp>
      <p:sp>
        <p:nvSpPr>
          <p:cNvPr id="10" name="Text 8"/>
          <p:cNvSpPr/>
          <p:nvPr/>
        </p:nvSpPr>
        <p:spPr>
          <a:xfrm>
            <a:off x="822960" y="3611880"/>
            <a:ext cx="4754880" cy="411480"/>
          </a:xfrm>
          <a:prstGeom prst="rect">
            <a:avLst/>
          </a:prstGeom>
          <a:noFill/>
          <a:ln/>
        </p:spPr>
        <p:txBody>
          <a:bodyPr wrap="square" rtlCol="0" anchor="ctr"/>
          <a:lstStyle/>
          <a:p>
            <a:pPr indent="0" marL="0">
              <a:buNone/>
            </a:pPr>
            <a:r>
              <a:rPr lang="en-US" sz="1500" b="1" dirty="0">
                <a:solidFill>
                  <a:srgbClr val="EF4444"/>
                </a:solidFill>
                <a:latin typeface="Segoe UI" pitchFamily="34" charset="0"/>
                <a:ea typeface="Segoe UI" pitchFamily="34" charset="-122"/>
                <a:cs typeface="Segoe UI" pitchFamily="34" charset="-120"/>
              </a:rPr>
              <a:t>Data access</a:t>
            </a:r>
            <a:endParaRPr lang="en-US" sz="1500" dirty="0"/>
          </a:p>
        </p:txBody>
      </p:sp>
      <p:sp>
        <p:nvSpPr>
          <p:cNvPr id="11" name="Text 9"/>
          <p:cNvSpPr/>
          <p:nvPr/>
        </p:nvSpPr>
        <p:spPr>
          <a:xfrm>
            <a:off x="822960" y="4069080"/>
            <a:ext cx="4754880" cy="100584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Agent with broad RBAC could read Key Vault secrets, customer data, logs it shouldn't see.</a:t>
            </a:r>
            <a:endParaRPr lang="en-US" sz="1100" dirty="0"/>
          </a:p>
        </p:txBody>
      </p:sp>
      <p:sp>
        <p:nvSpPr>
          <p:cNvPr id="12" name="Shape 10"/>
          <p:cNvSpPr/>
          <p:nvPr/>
        </p:nvSpPr>
        <p:spPr>
          <a:xfrm>
            <a:off x="6217920" y="3474720"/>
            <a:ext cx="5303520" cy="1828800"/>
          </a:xfrm>
          <a:prstGeom prst="roundRect">
            <a:avLst>
              <a:gd name="adj" fmla="val 6000"/>
            </a:avLst>
          </a:prstGeom>
          <a:solidFill>
            <a:srgbClr val="27272A">
              <a:alpha val="60000"/>
            </a:srgbClr>
          </a:solidFill>
          <a:ln w="12700">
            <a:solidFill>
              <a:srgbClr val="EF4444">
                <a:alpha val="40000"/>
              </a:srgbClr>
            </a:solidFill>
            <a:prstDash val="solid"/>
          </a:ln>
        </p:spPr>
      </p:sp>
      <p:sp>
        <p:nvSpPr>
          <p:cNvPr id="13" name="Text 11"/>
          <p:cNvSpPr/>
          <p:nvPr/>
        </p:nvSpPr>
        <p:spPr>
          <a:xfrm>
            <a:off x="6492240" y="3611880"/>
            <a:ext cx="4754880" cy="411480"/>
          </a:xfrm>
          <a:prstGeom prst="rect">
            <a:avLst/>
          </a:prstGeom>
          <a:noFill/>
          <a:ln/>
        </p:spPr>
        <p:txBody>
          <a:bodyPr wrap="square" rtlCol="0" anchor="ctr"/>
          <a:lstStyle/>
          <a:p>
            <a:pPr indent="0" marL="0">
              <a:buNone/>
            </a:pPr>
            <a:r>
              <a:rPr lang="en-US" sz="1500" b="1" dirty="0">
                <a:solidFill>
                  <a:srgbClr val="EF4444"/>
                </a:solidFill>
                <a:latin typeface="Segoe UI" pitchFamily="34" charset="0"/>
                <a:ea typeface="Segoe UI" pitchFamily="34" charset="-122"/>
                <a:cs typeface="Segoe UI" pitchFamily="34" charset="-120"/>
              </a:rPr>
              <a:t>Runaway loops</a:t>
            </a:r>
            <a:endParaRPr lang="en-US" sz="1500" dirty="0"/>
          </a:p>
        </p:txBody>
      </p:sp>
      <p:sp>
        <p:nvSpPr>
          <p:cNvPr id="14" name="Text 12"/>
          <p:cNvSpPr/>
          <p:nvPr/>
        </p:nvSpPr>
        <p:spPr>
          <a:xfrm>
            <a:off x="6492240" y="4069080"/>
            <a:ext cx="4754880" cy="100584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Agent retries a failed deployment 47 times. Each retry creates resources. Bill goes nuclear.</a:t>
            </a:r>
            <a:endParaRPr lang="en-US" sz="1100" dirty="0"/>
          </a:p>
        </p:txBody>
      </p:sp>
      <p:sp>
        <p:nvSpPr>
          <p:cNvPr id="15" name="Text 13"/>
          <p:cNvSpPr/>
          <p:nvPr/>
        </p:nvSpPr>
        <p:spPr>
          <a:xfrm>
            <a:off x="0" y="5669280"/>
            <a:ext cx="12192000" cy="365760"/>
          </a:xfrm>
          <a:prstGeom prst="rect">
            <a:avLst/>
          </a:prstGeom>
          <a:noFill/>
          <a:ln/>
        </p:spPr>
        <p:txBody>
          <a:bodyPr wrap="square" rtlCol="0" anchor="ctr"/>
          <a:lstStyle/>
          <a:p>
            <a:pPr algn="ctr" indent="0" marL="0">
              <a:buNone/>
            </a:pPr>
            <a:r>
              <a:rPr lang="en-US" sz="1100" dirty="0">
                <a:solidFill>
                  <a:srgbClr val="52525B"/>
                </a:solidFill>
                <a:latin typeface="Segoe UI" pitchFamily="34" charset="0"/>
                <a:ea typeface="Segoe UI" pitchFamily="34" charset="-122"/>
                <a:cs typeface="Segoe UI" pitchFamily="34" charset="-120"/>
              </a:rPr>
              <a:t>These are real risks. Not theoretical. Let's talk about what's in our control.</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274320"/>
            <a:ext cx="12192000" cy="548640"/>
          </a:xfrm>
          <a:prstGeom prst="rect">
            <a:avLst/>
          </a:prstGeom>
          <a:noFill/>
          <a:ln/>
        </p:spPr>
        <p:txBody>
          <a:bodyPr wrap="square" rtlCol="0" anchor="ctr"/>
          <a:lstStyle/>
          <a:p>
            <a:pPr algn="ctr" indent="0" marL="0">
              <a:buNone/>
            </a:pPr>
            <a:r>
              <a:rPr lang="en-US" sz="2800" b="1" dirty="0">
                <a:solidFill>
                  <a:srgbClr val="FFFFFF"/>
                </a:solidFill>
                <a:latin typeface="Segoe UI" pitchFamily="34" charset="0"/>
                <a:ea typeface="Segoe UI" pitchFamily="34" charset="-122"/>
                <a:cs typeface="Segoe UI" pitchFamily="34" charset="-120"/>
              </a:rPr>
              <a:t>What's </a:t>
            </a:r>
            <a:pPr algn="ctr" indent="0" marL="0">
              <a:buNone/>
            </a:pPr>
            <a:r>
              <a:rPr lang="en-US" sz="2800" b="1" dirty="0">
                <a:solidFill>
                  <a:srgbClr val="10B981"/>
                </a:solidFill>
                <a:latin typeface="Segoe UI" pitchFamily="34" charset="0"/>
                <a:ea typeface="Segoe UI" pitchFamily="34" charset="-122"/>
                <a:cs typeface="Segoe UI" pitchFamily="34" charset="-120"/>
              </a:rPr>
              <a:t>in our control</a:t>
            </a:r>
            <a:endParaRPr lang="en-US" sz="2800" dirty="0"/>
          </a:p>
        </p:txBody>
      </p:sp>
      <p:sp>
        <p:nvSpPr>
          <p:cNvPr id="3" name="Shape 1"/>
          <p:cNvSpPr/>
          <p:nvPr/>
        </p:nvSpPr>
        <p:spPr>
          <a:xfrm>
            <a:off x="731520" y="1005840"/>
            <a:ext cx="3291840" cy="1920240"/>
          </a:xfrm>
          <a:prstGeom prst="roundRect">
            <a:avLst>
              <a:gd name="adj" fmla="val 5714"/>
            </a:avLst>
          </a:prstGeom>
          <a:solidFill>
            <a:srgbClr val="27272A">
              <a:alpha val="60000"/>
            </a:srgbClr>
          </a:solidFill>
          <a:ln w="12700">
            <a:solidFill>
              <a:srgbClr val="10B981">
                <a:alpha val="40000"/>
              </a:srgbClr>
            </a:solidFill>
            <a:prstDash val="solid"/>
          </a:ln>
        </p:spPr>
      </p:sp>
      <p:sp>
        <p:nvSpPr>
          <p:cNvPr id="4" name="Text 2"/>
          <p:cNvSpPr/>
          <p:nvPr/>
        </p:nvSpPr>
        <p:spPr>
          <a:xfrm>
            <a:off x="914400" y="1143000"/>
            <a:ext cx="2926080" cy="411480"/>
          </a:xfrm>
          <a:prstGeom prst="rect">
            <a:avLst/>
          </a:prstGeom>
          <a:noFill/>
          <a:ln/>
        </p:spPr>
        <p:txBody>
          <a:bodyPr wrap="square" rtlCol="0" anchor="ctr"/>
          <a:lstStyle/>
          <a:p>
            <a:pPr indent="0" marL="0">
              <a:buNone/>
            </a:pPr>
            <a:r>
              <a:rPr lang="en-US" sz="1300" b="1" dirty="0">
                <a:solidFill>
                  <a:srgbClr val="10B981"/>
                </a:solidFill>
                <a:latin typeface="Segoe UI" pitchFamily="34" charset="0"/>
                <a:ea typeface="Segoe UI" pitchFamily="34" charset="-122"/>
                <a:cs typeface="Segoe UI" pitchFamily="34" charset="-120"/>
              </a:rPr>
              <a:t>🔐 Azure AD + RBAC</a:t>
            </a:r>
            <a:endParaRPr lang="en-US" sz="1300" dirty="0"/>
          </a:p>
        </p:txBody>
      </p:sp>
      <p:sp>
        <p:nvSpPr>
          <p:cNvPr id="5" name="Text 3"/>
          <p:cNvSpPr/>
          <p:nvPr/>
        </p:nvSpPr>
        <p:spPr>
          <a:xfrm>
            <a:off x="914400" y="1600200"/>
            <a:ext cx="2926080" cy="109728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Least privilege. Scoped tokens. Time-limited, revocable.</a:t>
            </a:r>
            <a:endParaRPr lang="en-US" sz="1100" dirty="0"/>
          </a:p>
        </p:txBody>
      </p:sp>
      <p:sp>
        <p:nvSpPr>
          <p:cNvPr id="6" name="Shape 4"/>
          <p:cNvSpPr/>
          <p:nvPr/>
        </p:nvSpPr>
        <p:spPr>
          <a:xfrm>
            <a:off x="4389120" y="1005840"/>
            <a:ext cx="3291840" cy="1920240"/>
          </a:xfrm>
          <a:prstGeom prst="roundRect">
            <a:avLst>
              <a:gd name="adj" fmla="val 5714"/>
            </a:avLst>
          </a:prstGeom>
          <a:solidFill>
            <a:srgbClr val="27272A">
              <a:alpha val="60000"/>
            </a:srgbClr>
          </a:solidFill>
          <a:ln w="12700">
            <a:solidFill>
              <a:srgbClr val="10B981">
                <a:alpha val="40000"/>
              </a:srgbClr>
            </a:solidFill>
            <a:prstDash val="solid"/>
          </a:ln>
        </p:spPr>
      </p:sp>
      <p:sp>
        <p:nvSpPr>
          <p:cNvPr id="7" name="Text 5"/>
          <p:cNvSpPr/>
          <p:nvPr/>
        </p:nvSpPr>
        <p:spPr>
          <a:xfrm>
            <a:off x="4572000" y="1143000"/>
            <a:ext cx="2926080" cy="411480"/>
          </a:xfrm>
          <a:prstGeom prst="rect">
            <a:avLst/>
          </a:prstGeom>
          <a:noFill/>
          <a:ln/>
        </p:spPr>
        <p:txBody>
          <a:bodyPr wrap="square" rtlCol="0" anchor="ctr"/>
          <a:lstStyle/>
          <a:p>
            <a:pPr indent="0" marL="0">
              <a:buNone/>
            </a:pPr>
            <a:r>
              <a:rPr lang="en-US" sz="1300" b="1" dirty="0">
                <a:solidFill>
                  <a:srgbClr val="10B981"/>
                </a:solidFill>
                <a:latin typeface="Segoe UI" pitchFamily="34" charset="0"/>
                <a:ea typeface="Segoe UI" pitchFamily="34" charset="-122"/>
                <a:cs typeface="Segoe UI" pitchFamily="34" charset="-120"/>
              </a:rPr>
              <a:t>⚖️ Azure Policy</a:t>
            </a:r>
            <a:endParaRPr lang="en-US" sz="1300" dirty="0"/>
          </a:p>
        </p:txBody>
      </p:sp>
      <p:sp>
        <p:nvSpPr>
          <p:cNvPr id="8" name="Text 6"/>
          <p:cNvSpPr/>
          <p:nvPr/>
        </p:nvSpPr>
        <p:spPr>
          <a:xfrm>
            <a:off x="4572000" y="1600200"/>
            <a:ext cx="2926080" cy="109728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Deny by default. Agent can't create non-compliant resources.</a:t>
            </a:r>
            <a:endParaRPr lang="en-US" sz="1100" dirty="0"/>
          </a:p>
        </p:txBody>
      </p:sp>
      <p:sp>
        <p:nvSpPr>
          <p:cNvPr id="9" name="Shape 7"/>
          <p:cNvSpPr/>
          <p:nvPr/>
        </p:nvSpPr>
        <p:spPr>
          <a:xfrm>
            <a:off x="8046720" y="1005840"/>
            <a:ext cx="3291840" cy="1920240"/>
          </a:xfrm>
          <a:prstGeom prst="roundRect">
            <a:avLst>
              <a:gd name="adj" fmla="val 5714"/>
            </a:avLst>
          </a:prstGeom>
          <a:solidFill>
            <a:srgbClr val="27272A">
              <a:alpha val="60000"/>
            </a:srgbClr>
          </a:solidFill>
          <a:ln w="12700">
            <a:solidFill>
              <a:srgbClr val="10B981">
                <a:alpha val="40000"/>
              </a:srgbClr>
            </a:solidFill>
            <a:prstDash val="solid"/>
          </a:ln>
        </p:spPr>
      </p:sp>
      <p:sp>
        <p:nvSpPr>
          <p:cNvPr id="10" name="Text 8"/>
          <p:cNvSpPr/>
          <p:nvPr/>
        </p:nvSpPr>
        <p:spPr>
          <a:xfrm>
            <a:off x="8229600" y="1143000"/>
            <a:ext cx="2926080" cy="411480"/>
          </a:xfrm>
          <a:prstGeom prst="rect">
            <a:avLst/>
          </a:prstGeom>
          <a:noFill/>
          <a:ln/>
        </p:spPr>
        <p:txBody>
          <a:bodyPr wrap="square" rtlCol="0" anchor="ctr"/>
          <a:lstStyle/>
          <a:p>
            <a:pPr indent="0" marL="0">
              <a:buNone/>
            </a:pPr>
            <a:r>
              <a:rPr lang="en-US" sz="1300" b="1" dirty="0">
                <a:solidFill>
                  <a:srgbClr val="10B981"/>
                </a:solidFill>
                <a:latin typeface="Segoe UI" pitchFamily="34" charset="0"/>
                <a:ea typeface="Segoe UI" pitchFamily="34" charset="-122"/>
                <a:cs typeface="Segoe UI" pitchFamily="34" charset="-120"/>
              </a:rPr>
              <a:t>🔒 Resource Locks</a:t>
            </a:r>
            <a:endParaRPr lang="en-US" sz="1300" dirty="0"/>
          </a:p>
        </p:txBody>
      </p:sp>
      <p:sp>
        <p:nvSpPr>
          <p:cNvPr id="11" name="Text 9"/>
          <p:cNvSpPr/>
          <p:nvPr/>
        </p:nvSpPr>
        <p:spPr>
          <a:xfrm>
            <a:off x="8229600" y="1600200"/>
            <a:ext cx="2926080" cy="109728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CanNotDelete on production. No override without human.</a:t>
            </a:r>
            <a:endParaRPr lang="en-US" sz="1100" dirty="0"/>
          </a:p>
        </p:txBody>
      </p:sp>
      <p:sp>
        <p:nvSpPr>
          <p:cNvPr id="12" name="Shape 10"/>
          <p:cNvSpPr/>
          <p:nvPr/>
        </p:nvSpPr>
        <p:spPr>
          <a:xfrm>
            <a:off x="731520" y="3383280"/>
            <a:ext cx="3291840" cy="1920240"/>
          </a:xfrm>
          <a:prstGeom prst="roundRect">
            <a:avLst>
              <a:gd name="adj" fmla="val 5714"/>
            </a:avLst>
          </a:prstGeom>
          <a:solidFill>
            <a:srgbClr val="27272A">
              <a:alpha val="60000"/>
            </a:srgbClr>
          </a:solidFill>
          <a:ln w="12700">
            <a:solidFill>
              <a:srgbClr val="10B981">
                <a:alpha val="40000"/>
              </a:srgbClr>
            </a:solidFill>
            <a:prstDash val="solid"/>
          </a:ln>
        </p:spPr>
      </p:sp>
      <p:sp>
        <p:nvSpPr>
          <p:cNvPr id="13" name="Text 11"/>
          <p:cNvSpPr/>
          <p:nvPr/>
        </p:nvSpPr>
        <p:spPr>
          <a:xfrm>
            <a:off x="914400" y="3520440"/>
            <a:ext cx="2926080" cy="411480"/>
          </a:xfrm>
          <a:prstGeom prst="rect">
            <a:avLst/>
          </a:prstGeom>
          <a:noFill/>
          <a:ln/>
        </p:spPr>
        <p:txBody>
          <a:bodyPr wrap="square" rtlCol="0" anchor="ctr"/>
          <a:lstStyle/>
          <a:p>
            <a:pPr indent="0" marL="0">
              <a:buNone/>
            </a:pPr>
            <a:r>
              <a:rPr lang="en-US" sz="1300" b="1" dirty="0">
                <a:solidFill>
                  <a:srgbClr val="10B981"/>
                </a:solidFill>
                <a:latin typeface="Segoe UI" pitchFamily="34" charset="0"/>
                <a:ea typeface="Segoe UI" pitchFamily="34" charset="-122"/>
                <a:cs typeface="Segoe UI" pitchFamily="34" charset="-120"/>
              </a:rPr>
              <a:t>🚧 Human-in-the-Loop</a:t>
            </a:r>
            <a:endParaRPr lang="en-US" sz="1300" dirty="0"/>
          </a:p>
        </p:txBody>
      </p:sp>
      <p:sp>
        <p:nvSpPr>
          <p:cNvPr id="14" name="Text 12"/>
          <p:cNvSpPr/>
          <p:nvPr/>
        </p:nvSpPr>
        <p:spPr>
          <a:xfrm>
            <a:off x="914400" y="3977640"/>
            <a:ext cx="2926080" cy="109728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Approval gates for destructive ops. No YOLO mode.</a:t>
            </a:r>
            <a:endParaRPr lang="en-US" sz="1100" dirty="0"/>
          </a:p>
        </p:txBody>
      </p:sp>
      <p:sp>
        <p:nvSpPr>
          <p:cNvPr id="15" name="Shape 13"/>
          <p:cNvSpPr/>
          <p:nvPr/>
        </p:nvSpPr>
        <p:spPr>
          <a:xfrm>
            <a:off x="4389120" y="3383280"/>
            <a:ext cx="3291840" cy="1920240"/>
          </a:xfrm>
          <a:prstGeom prst="roundRect">
            <a:avLst>
              <a:gd name="adj" fmla="val 5714"/>
            </a:avLst>
          </a:prstGeom>
          <a:solidFill>
            <a:srgbClr val="27272A">
              <a:alpha val="60000"/>
            </a:srgbClr>
          </a:solidFill>
          <a:ln w="12700">
            <a:solidFill>
              <a:srgbClr val="10B981">
                <a:alpha val="40000"/>
              </a:srgbClr>
            </a:solidFill>
            <a:prstDash val="solid"/>
          </a:ln>
        </p:spPr>
      </p:sp>
      <p:sp>
        <p:nvSpPr>
          <p:cNvPr id="16" name="Text 14"/>
          <p:cNvSpPr/>
          <p:nvPr/>
        </p:nvSpPr>
        <p:spPr>
          <a:xfrm>
            <a:off x="4572000" y="3520440"/>
            <a:ext cx="2926080" cy="411480"/>
          </a:xfrm>
          <a:prstGeom prst="rect">
            <a:avLst/>
          </a:prstGeom>
          <a:noFill/>
          <a:ln/>
        </p:spPr>
        <p:txBody>
          <a:bodyPr wrap="square" rtlCol="0" anchor="ctr"/>
          <a:lstStyle/>
          <a:p>
            <a:pPr indent="0" marL="0">
              <a:buNone/>
            </a:pPr>
            <a:r>
              <a:rPr lang="en-US" sz="1300" b="1" dirty="0">
                <a:solidFill>
                  <a:srgbClr val="10B981"/>
                </a:solidFill>
                <a:latin typeface="Segoe UI" pitchFamily="34" charset="0"/>
                <a:ea typeface="Segoe UI" pitchFamily="34" charset="-122"/>
                <a:cs typeface="Segoe UI" pitchFamily="34" charset="-120"/>
              </a:rPr>
              <a:t>📝 Activity Log</a:t>
            </a:r>
            <a:endParaRPr lang="en-US" sz="1300" dirty="0"/>
          </a:p>
        </p:txBody>
      </p:sp>
      <p:sp>
        <p:nvSpPr>
          <p:cNvPr id="17" name="Text 15"/>
          <p:cNvSpPr/>
          <p:nvPr/>
        </p:nvSpPr>
        <p:spPr>
          <a:xfrm>
            <a:off x="4572000" y="3977640"/>
            <a:ext cx="2926080" cy="109728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Every action traced. Full audit trail.</a:t>
            </a:r>
            <a:endParaRPr lang="en-US" sz="1100" dirty="0"/>
          </a:p>
        </p:txBody>
      </p:sp>
      <p:sp>
        <p:nvSpPr>
          <p:cNvPr id="18" name="Shape 16"/>
          <p:cNvSpPr/>
          <p:nvPr/>
        </p:nvSpPr>
        <p:spPr>
          <a:xfrm>
            <a:off x="8046720" y="3383280"/>
            <a:ext cx="3291840" cy="1920240"/>
          </a:xfrm>
          <a:prstGeom prst="roundRect">
            <a:avLst>
              <a:gd name="adj" fmla="val 5714"/>
            </a:avLst>
          </a:prstGeom>
          <a:solidFill>
            <a:srgbClr val="27272A">
              <a:alpha val="60000"/>
            </a:srgbClr>
          </a:solidFill>
          <a:ln w="12700">
            <a:solidFill>
              <a:srgbClr val="10B981">
                <a:alpha val="40000"/>
              </a:srgbClr>
            </a:solidFill>
            <a:prstDash val="solid"/>
          </a:ln>
        </p:spPr>
      </p:sp>
      <p:sp>
        <p:nvSpPr>
          <p:cNvPr id="19" name="Text 17"/>
          <p:cNvSpPr/>
          <p:nvPr/>
        </p:nvSpPr>
        <p:spPr>
          <a:xfrm>
            <a:off x="8229600" y="3520440"/>
            <a:ext cx="2926080" cy="411480"/>
          </a:xfrm>
          <a:prstGeom prst="rect">
            <a:avLst/>
          </a:prstGeom>
          <a:noFill/>
          <a:ln/>
        </p:spPr>
        <p:txBody>
          <a:bodyPr wrap="square" rtlCol="0" anchor="ctr"/>
          <a:lstStyle/>
          <a:p>
            <a:pPr indent="0" marL="0">
              <a:buNone/>
            </a:pPr>
            <a:r>
              <a:rPr lang="en-US" sz="1300" b="1" dirty="0">
                <a:solidFill>
                  <a:srgbClr val="10B981"/>
                </a:solidFill>
                <a:latin typeface="Segoe UI" pitchFamily="34" charset="0"/>
                <a:ea typeface="Segoe UI" pitchFamily="34" charset="-122"/>
                <a:cs typeface="Segoe UI" pitchFamily="34" charset="-120"/>
              </a:rPr>
              <a:t>🧱 Agent Sandboxing</a:t>
            </a:r>
            <a:endParaRPr lang="en-US" sz="1300" dirty="0"/>
          </a:p>
        </p:txBody>
      </p:sp>
      <p:sp>
        <p:nvSpPr>
          <p:cNvPr id="20" name="Text 18"/>
          <p:cNvSpPr/>
          <p:nvPr/>
        </p:nvSpPr>
        <p:spPr>
          <a:xfrm>
            <a:off x="8229600" y="3977640"/>
            <a:ext cx="2926080" cy="1097280"/>
          </a:xfrm>
          <a:prstGeom prst="rect">
            <a:avLst/>
          </a:prstGeom>
          <a:noFill/>
          <a:ln/>
        </p:spPr>
        <p:txBody>
          <a:bodyPr wrap="square" rtlCol="0" anchor="ctr"/>
          <a:lstStyle/>
          <a:p>
            <a:pPr indent="0" marL="0">
              <a:lnSpc>
                <a:spcPct val="130000"/>
              </a:lnSpc>
              <a:buNone/>
            </a:pPr>
            <a:r>
              <a:rPr lang="en-US" sz="1100" dirty="0">
                <a:solidFill>
                  <a:srgbClr val="71717A"/>
                </a:solidFill>
                <a:latin typeface="Segoe UI" pitchFamily="34" charset="0"/>
                <a:ea typeface="Segoe UI" pitchFamily="34" charset="-122"/>
                <a:cs typeface="Segoe UI" pitchFamily="34" charset="-120"/>
              </a:rPr>
              <a:t>Deny lists, command allowlists, resource group boundaries.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457200"/>
            <a:ext cx="12192000" cy="640080"/>
          </a:xfrm>
          <a:prstGeom prst="rect">
            <a:avLst/>
          </a:prstGeom>
          <a:noFill/>
          <a:ln/>
        </p:spPr>
        <p:txBody>
          <a:bodyPr wrap="square" rtlCol="0" anchor="ctr"/>
          <a:lstStyle/>
          <a:p>
            <a:pPr algn="ctr" indent="0" marL="0">
              <a:buNone/>
            </a:pPr>
            <a:r>
              <a:rPr lang="en-US" sz="2800" b="1" dirty="0">
                <a:solidFill>
                  <a:srgbClr val="FFFFFF"/>
                </a:solidFill>
                <a:latin typeface="Segoe UI" pitchFamily="34" charset="0"/>
                <a:ea typeface="Segoe UI" pitchFamily="34" charset="-122"/>
                <a:cs typeface="Segoe UI" pitchFamily="34" charset="-120"/>
              </a:rPr>
              <a:t>What's </a:t>
            </a:r>
            <a:pPr algn="ctr" indent="0" marL="0">
              <a:buNone/>
            </a:pPr>
            <a:r>
              <a:rPr lang="en-US" sz="2800" b="1" dirty="0">
                <a:solidFill>
                  <a:srgbClr val="EF4444"/>
                </a:solidFill>
                <a:latin typeface="Segoe UI" pitchFamily="34" charset="0"/>
                <a:ea typeface="Segoe UI" pitchFamily="34" charset="-122"/>
                <a:cs typeface="Segoe UI" pitchFamily="34" charset="-120"/>
              </a:rPr>
              <a:t>NOT yet</a:t>
            </a:r>
            <a:pPr algn="ctr" indent="0" marL="0">
              <a:buNone/>
            </a:pPr>
            <a:r>
              <a:rPr lang="en-US" sz="2800" b="1" dirty="0">
                <a:solidFill>
                  <a:srgbClr val="FFFFFF"/>
                </a:solidFill>
                <a:latin typeface="Segoe UI" pitchFamily="34" charset="0"/>
                <a:ea typeface="Segoe UI" pitchFamily="34" charset="-122"/>
                <a:cs typeface="Segoe UI" pitchFamily="34" charset="-120"/>
              </a:rPr>
              <a:t> in our control</a:t>
            </a:r>
            <a:endParaRPr lang="en-US" sz="2800" dirty="0"/>
          </a:p>
        </p:txBody>
      </p:sp>
      <p:sp>
        <p:nvSpPr>
          <p:cNvPr id="3" name="Text 1"/>
          <p:cNvSpPr/>
          <p:nvPr/>
        </p:nvSpPr>
        <p:spPr>
          <a:xfrm>
            <a:off x="1371600" y="1371600"/>
            <a:ext cx="9445752" cy="640080"/>
          </a:xfrm>
          <a:prstGeom prst="rect">
            <a:avLst/>
          </a:prstGeom>
          <a:noFill/>
          <a:ln/>
        </p:spPr>
        <p:txBody>
          <a:bodyPr wrap="square" rtlCol="0" anchor="ctr"/>
          <a:lstStyle/>
          <a:p>
            <a:pPr indent="0" marL="0">
              <a:lnSpc>
                <a:spcPct val="130000"/>
              </a:lnSpc>
              <a:buNone/>
            </a:pPr>
            <a:r>
              <a:rPr lang="en-US" sz="1300" dirty="0">
                <a:solidFill>
                  <a:srgbClr val="71717A"/>
                </a:solidFill>
                <a:latin typeface="Segoe UI" pitchFamily="34" charset="0"/>
                <a:ea typeface="Segoe UI" pitchFamily="34" charset="-122"/>
                <a:cs typeface="Segoe UI" pitchFamily="34" charset="-120"/>
              </a:rPr>
              <a:t>●  Hallucination in IaC generation — Agent might generate Bicep that compiles but does the wrong thing</a:t>
            </a:r>
            <a:endParaRPr lang="en-US" sz="1300" dirty="0"/>
          </a:p>
        </p:txBody>
      </p:sp>
      <p:sp>
        <p:nvSpPr>
          <p:cNvPr id="4" name="Text 2"/>
          <p:cNvSpPr/>
          <p:nvPr/>
        </p:nvSpPr>
        <p:spPr>
          <a:xfrm>
            <a:off x="1371600" y="2103120"/>
            <a:ext cx="9445752" cy="640080"/>
          </a:xfrm>
          <a:prstGeom prst="rect">
            <a:avLst/>
          </a:prstGeom>
          <a:noFill/>
          <a:ln/>
        </p:spPr>
        <p:txBody>
          <a:bodyPr wrap="square" rtlCol="0" anchor="ctr"/>
          <a:lstStyle/>
          <a:p>
            <a:pPr indent="0" marL="0">
              <a:lnSpc>
                <a:spcPct val="130000"/>
              </a:lnSpc>
              <a:buNone/>
            </a:pPr>
            <a:r>
              <a:rPr lang="en-US" sz="1300" dirty="0">
                <a:solidFill>
                  <a:srgbClr val="71717A"/>
                </a:solidFill>
                <a:latin typeface="Segoe UI" pitchFamily="34" charset="0"/>
                <a:ea typeface="Segoe UI" pitchFamily="34" charset="-122"/>
                <a:cs typeface="Segoe UI" pitchFamily="34" charset="-120"/>
              </a:rPr>
              <a:t>●  Token/credential scope management — Still largely manual. No standard tooling yet</a:t>
            </a:r>
            <a:endParaRPr lang="en-US" sz="1300" dirty="0"/>
          </a:p>
        </p:txBody>
      </p:sp>
      <p:sp>
        <p:nvSpPr>
          <p:cNvPr id="5" name="Text 3"/>
          <p:cNvSpPr/>
          <p:nvPr/>
        </p:nvSpPr>
        <p:spPr>
          <a:xfrm>
            <a:off x="1371600" y="2834640"/>
            <a:ext cx="9445752" cy="640080"/>
          </a:xfrm>
          <a:prstGeom prst="rect">
            <a:avLst/>
          </a:prstGeom>
          <a:noFill/>
          <a:ln/>
        </p:spPr>
        <p:txBody>
          <a:bodyPr wrap="square" rtlCol="0" anchor="ctr"/>
          <a:lstStyle/>
          <a:p>
            <a:pPr indent="0" marL="0">
              <a:lnSpc>
                <a:spcPct val="130000"/>
              </a:lnSpc>
              <a:buNone/>
            </a:pPr>
            <a:r>
              <a:rPr lang="en-US" sz="1300" dirty="0">
                <a:solidFill>
                  <a:srgbClr val="71717A"/>
                </a:solidFill>
                <a:latin typeface="Segoe UI" pitchFamily="34" charset="0"/>
                <a:ea typeface="Segoe UI" pitchFamily="34" charset="-122"/>
                <a:cs typeface="Segoe UI" pitchFamily="34" charset="-120"/>
              </a:rPr>
              <a:t>●  Agent-to-agent trust — No standard for how agents delegate to each other safely</a:t>
            </a:r>
            <a:endParaRPr lang="en-US" sz="1300" dirty="0"/>
          </a:p>
        </p:txBody>
      </p:sp>
      <p:sp>
        <p:nvSpPr>
          <p:cNvPr id="6" name="Text 4"/>
          <p:cNvSpPr/>
          <p:nvPr/>
        </p:nvSpPr>
        <p:spPr>
          <a:xfrm>
            <a:off x="1371600" y="3566160"/>
            <a:ext cx="9445752" cy="640080"/>
          </a:xfrm>
          <a:prstGeom prst="rect">
            <a:avLst/>
          </a:prstGeom>
          <a:noFill/>
          <a:ln/>
        </p:spPr>
        <p:txBody>
          <a:bodyPr wrap="square" rtlCol="0" anchor="ctr"/>
          <a:lstStyle/>
          <a:p>
            <a:pPr indent="0" marL="0">
              <a:lnSpc>
                <a:spcPct val="130000"/>
              </a:lnSpc>
              <a:buNone/>
            </a:pPr>
            <a:r>
              <a:rPr lang="en-US" sz="1300" dirty="0">
                <a:solidFill>
                  <a:srgbClr val="71717A"/>
                </a:solidFill>
                <a:latin typeface="Segoe UI" pitchFamily="34" charset="0"/>
                <a:ea typeface="Segoe UI" pitchFamily="34" charset="-122"/>
                <a:cs typeface="Segoe UI" pitchFamily="34" charset="-120"/>
              </a:rPr>
              <a:t>●  Prompt injection in multi-user scenarios — Shared agent surfaces are an attack vector</a:t>
            </a:r>
            <a:endParaRPr lang="en-US" sz="1300" dirty="0"/>
          </a:p>
        </p:txBody>
      </p:sp>
      <p:sp>
        <p:nvSpPr>
          <p:cNvPr id="7" name="Text 5"/>
          <p:cNvSpPr/>
          <p:nvPr/>
        </p:nvSpPr>
        <p:spPr>
          <a:xfrm>
            <a:off x="1371600" y="4297680"/>
            <a:ext cx="9445752" cy="640080"/>
          </a:xfrm>
          <a:prstGeom prst="rect">
            <a:avLst/>
          </a:prstGeom>
          <a:noFill/>
          <a:ln/>
        </p:spPr>
        <p:txBody>
          <a:bodyPr wrap="square" rtlCol="0" anchor="ctr"/>
          <a:lstStyle/>
          <a:p>
            <a:pPr indent="0" marL="0">
              <a:lnSpc>
                <a:spcPct val="130000"/>
              </a:lnSpc>
              <a:buNone/>
            </a:pPr>
            <a:r>
              <a:rPr lang="en-US" sz="1300" dirty="0">
                <a:solidFill>
                  <a:srgbClr val="71717A"/>
                </a:solidFill>
                <a:latin typeface="Segoe UI" pitchFamily="34" charset="0"/>
                <a:ea typeface="Segoe UI" pitchFamily="34" charset="-122"/>
                <a:cs typeface="Segoe UI" pitchFamily="34" charset="-120"/>
              </a:rPr>
              <a:t>●  Cost ceiling enforcement — Azure Budgets alert but don't hard-stop a runaway agent</a:t>
            </a:r>
            <a:endParaRPr lang="en-US" sz="1300" dirty="0"/>
          </a:p>
        </p:txBody>
      </p:sp>
      <p:sp>
        <p:nvSpPr>
          <p:cNvPr id="8" name="Text 6"/>
          <p:cNvSpPr/>
          <p:nvPr/>
        </p:nvSpPr>
        <p:spPr>
          <a:xfrm>
            <a:off x="0" y="5303520"/>
            <a:ext cx="12192000" cy="731520"/>
          </a:xfrm>
          <a:prstGeom prst="rect">
            <a:avLst/>
          </a:prstGeom>
          <a:noFill/>
          <a:ln/>
        </p:spPr>
        <p:txBody>
          <a:bodyPr wrap="square" rtlCol="0" anchor="ctr"/>
          <a:lstStyle/>
          <a:p>
            <a:pPr algn="ctr" indent="0" marL="0">
              <a:lnSpc>
                <a:spcPct val="130000"/>
              </a:lnSpc>
              <a:buNone/>
            </a:pPr>
            <a:r>
              <a:rPr lang="en-US" sz="1300" dirty="0">
                <a:solidFill>
                  <a:srgbClr val="71717A"/>
                </a:solidFill>
                <a:latin typeface="Segoe UI" pitchFamily="34" charset="0"/>
                <a:ea typeface="Segoe UI" pitchFamily="34" charset="-122"/>
                <a:cs typeface="Segoe UI" pitchFamily="34" charset="-120"/>
              </a:rPr>
              <a:t>This is an evolving space. Governance patterns are still forming.
</a:t>
            </a:r>
            <a:pPr algn="ctr" indent="0" marL="0">
              <a:lnSpc>
                <a:spcPct val="130000"/>
              </a:lnSpc>
              <a:buNone/>
            </a:pPr>
            <a:r>
              <a:rPr lang="en-US" sz="1300" b="1" dirty="0">
                <a:solidFill>
                  <a:srgbClr val="FFFFFF"/>
                </a:solidFill>
                <a:latin typeface="Segoe UI" pitchFamily="34" charset="0"/>
                <a:ea typeface="Segoe UI" pitchFamily="34" charset="-122"/>
                <a:cs typeface="Segoe UI" pitchFamily="34" charset="-120"/>
              </a:rPr>
              <a:t>That's exactly why your customers need you.</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1371600" y="1828800"/>
            <a:ext cx="9445752" cy="2286000"/>
          </a:xfrm>
          <a:prstGeom prst="rect">
            <a:avLst/>
          </a:prstGeom>
          <a:noFill/>
          <a:ln/>
        </p:spPr>
        <p:txBody>
          <a:bodyPr wrap="square" rtlCol="0" anchor="ctr"/>
          <a:lstStyle/>
          <a:p>
            <a:pPr algn="ctr" indent="0" marL="0">
              <a:lnSpc>
                <a:spcPct val="140000"/>
              </a:lnSpc>
              <a:buNone/>
            </a:pPr>
            <a:r>
              <a:rPr lang="en-US" sz="2400" i="1" dirty="0">
                <a:solidFill>
                  <a:srgbClr val="D4D4D8"/>
                </a:solidFill>
                <a:latin typeface="Segoe UI" pitchFamily="34" charset="0"/>
                <a:ea typeface="Segoe UI" pitchFamily="34" charset="-122"/>
                <a:cs typeface="Segoe UI" pitchFamily="34" charset="-120"/>
              </a:rPr>
              <a:t>"Azure's governance was built for humans.</a:t>
            </a:r>
            <a:endParaRPr lang="en-US" sz="2400" dirty="0"/>
          </a:p>
          <a:p>
            <a:pPr algn="ctr" indent="0" marL="0">
              <a:lnSpc>
                <a:spcPct val="140000"/>
              </a:lnSpc>
              <a:buNone/>
            </a:pPr>
            <a:r>
              <a:rPr lang="en-US" sz="2400" i="1" dirty="0">
                <a:solidFill>
                  <a:srgbClr val="D4D4D8"/>
                </a:solidFill>
                <a:latin typeface="Segoe UI" pitchFamily="34" charset="0"/>
                <a:ea typeface="Segoe UI" pitchFamily="34" charset="-122"/>
                <a:cs typeface="Segoe UI" pitchFamily="34" charset="-120"/>
              </a:rPr>
              <a:t>It works </a:t>
            </a:r>
            <a:endParaRPr lang="en-US" sz="2400" dirty="0"/>
          </a:p>
          <a:p>
            <a:pPr algn="ctr" indent="0" marL="0">
              <a:lnSpc>
                <a:spcPct val="140000"/>
              </a:lnSpc>
              <a:buNone/>
            </a:pPr>
            <a:r>
              <a:rPr lang="en-US" sz="2400" i="1" dirty="0">
                <a:solidFill>
                  <a:srgbClr val="50A0E6"/>
                </a:solidFill>
                <a:latin typeface="Segoe UI" pitchFamily="34" charset="0"/>
                <a:ea typeface="Segoe UI" pitchFamily="34" charset="-122"/>
                <a:cs typeface="Segoe UI" pitchFamily="34" charset="-120"/>
              </a:rPr>
              <a:t>even better</a:t>
            </a:r>
            <a:pPr algn="ctr" indent="0" marL="0">
              <a:lnSpc>
                <a:spcPct val="140000"/>
              </a:lnSpc>
              <a:buNone/>
            </a:pPr>
            <a:r>
              <a:rPr lang="en-US" sz="2400" i="1" dirty="0">
                <a:solidFill>
                  <a:srgbClr val="D4D4D8"/>
                </a:solidFill>
                <a:latin typeface="Segoe UI" pitchFamily="34" charset="0"/>
                <a:ea typeface="Segoe UI" pitchFamily="34" charset="-122"/>
                <a:cs typeface="Segoe UI" pitchFamily="34" charset="-120"/>
              </a:rPr>
              <a:t> for AI agents —</a:t>
            </a:r>
            <a:endParaRPr lang="en-US" sz="2400" dirty="0"/>
          </a:p>
          <a:p>
            <a:pPr algn="ctr" indent="0" marL="0">
              <a:lnSpc>
                <a:spcPct val="140000"/>
              </a:lnSpc>
              <a:buNone/>
            </a:pPr>
            <a:r>
              <a:rPr lang="en-US" sz="2400" i="1" dirty="0">
                <a:solidFill>
                  <a:srgbClr val="D4D4D8"/>
                </a:solidFill>
                <a:latin typeface="Segoe UI" pitchFamily="34" charset="0"/>
                <a:ea typeface="Segoe UI" pitchFamily="34" charset="-122"/>
                <a:cs typeface="Segoe UI" pitchFamily="34" charset="-120"/>
              </a:rPr>
              <a:t>because agents actually follow the rules."</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274320"/>
            <a:ext cx="12192000" cy="320040"/>
          </a:xfrm>
          <a:prstGeom prst="rect">
            <a:avLst/>
          </a:prstGeom>
          <a:noFill/>
          <a:ln/>
        </p:spPr>
        <p:txBody>
          <a:bodyPr wrap="square" rtlCol="0" anchor="ctr"/>
          <a:lstStyle/>
          <a:p>
            <a:pPr algn="ctr" indent="0" marL="0">
              <a:buNone/>
            </a:pPr>
            <a:r>
              <a:rPr lang="en-US" sz="1100" b="1" dirty="0">
                <a:solidFill>
                  <a:srgbClr val="50A0E6"/>
                </a:solidFill>
                <a:latin typeface="Segoe UI" pitchFamily="34" charset="0"/>
                <a:ea typeface="Segoe UI" pitchFamily="34" charset="-122"/>
                <a:cs typeface="Segoe UI" pitchFamily="34" charset="-120"/>
              </a:rPr>
              <a:t>Key Takeaways</a:t>
            </a:r>
            <a:endParaRPr lang="en-US" sz="1100" dirty="0"/>
          </a:p>
        </p:txBody>
      </p:sp>
      <p:sp>
        <p:nvSpPr>
          <p:cNvPr id="3" name="Text 1"/>
          <p:cNvSpPr/>
          <p:nvPr/>
        </p:nvSpPr>
        <p:spPr>
          <a:xfrm>
            <a:off x="0" y="640080"/>
            <a:ext cx="12192000" cy="640080"/>
          </a:xfrm>
          <a:prstGeom prst="rect">
            <a:avLst/>
          </a:prstGeom>
          <a:noFill/>
          <a:ln/>
        </p:spPr>
        <p:txBody>
          <a:bodyPr wrap="square" rtlCol="0" anchor="ctr"/>
          <a:lstStyle/>
          <a:p>
            <a:pPr algn="ctr" indent="0" marL="0">
              <a:buNone/>
            </a:pPr>
            <a:r>
              <a:rPr lang="en-US" sz="3000" b="1" dirty="0">
                <a:solidFill>
                  <a:srgbClr val="FFFFFF"/>
                </a:solidFill>
                <a:latin typeface="Segoe UI" pitchFamily="34" charset="0"/>
                <a:ea typeface="Segoe UI" pitchFamily="34" charset="-122"/>
                <a:cs typeface="Segoe UI" pitchFamily="34" charset="-120"/>
              </a:rPr>
              <a:t>Three things to remember.</a:t>
            </a:r>
            <a:endParaRPr lang="en-US" sz="3000" dirty="0"/>
          </a:p>
        </p:txBody>
      </p:sp>
      <p:sp>
        <p:nvSpPr>
          <p:cNvPr id="4" name="Text 2"/>
          <p:cNvSpPr/>
          <p:nvPr/>
        </p:nvSpPr>
        <p:spPr>
          <a:xfrm>
            <a:off x="1828800" y="1554480"/>
            <a:ext cx="731520" cy="822960"/>
          </a:xfrm>
          <a:prstGeom prst="rect">
            <a:avLst/>
          </a:prstGeom>
          <a:noFill/>
          <a:ln/>
        </p:spPr>
        <p:txBody>
          <a:bodyPr wrap="square" rtlCol="0" anchor="t"/>
          <a:lstStyle/>
          <a:p>
            <a:pPr indent="0" marL="0">
              <a:buNone/>
            </a:pPr>
            <a:r>
              <a:rPr lang="en-US" sz="3600" b="1" dirty="0">
                <a:solidFill>
                  <a:srgbClr val="50A0E6"/>
                </a:solidFill>
                <a:latin typeface="Segoe UI" pitchFamily="34" charset="0"/>
                <a:ea typeface="Segoe UI" pitchFamily="34" charset="-122"/>
                <a:cs typeface="Segoe UI" pitchFamily="34" charset="-120"/>
              </a:rPr>
              <a:t>1</a:t>
            </a:r>
            <a:endParaRPr lang="en-US" sz="3600" dirty="0"/>
          </a:p>
        </p:txBody>
      </p:sp>
      <p:sp>
        <p:nvSpPr>
          <p:cNvPr id="5" name="Text 3"/>
          <p:cNvSpPr/>
          <p:nvPr/>
        </p:nvSpPr>
        <p:spPr>
          <a:xfrm>
            <a:off x="2743200" y="1554480"/>
            <a:ext cx="7315200" cy="731520"/>
          </a:xfrm>
          <a:prstGeom prst="rect">
            <a:avLst/>
          </a:prstGeom>
          <a:noFill/>
          <a:ln/>
        </p:spPr>
        <p:txBody>
          <a:bodyPr wrap="square" rtlCol="0" anchor="t"/>
          <a:lstStyle/>
          <a:p>
            <a:pPr indent="0" marL="0">
              <a:lnSpc>
                <a:spcPct val="120000"/>
              </a:lnSpc>
              <a:buNone/>
            </a:pPr>
            <a:r>
              <a:rPr lang="en-US" sz="1600" b="1" dirty="0">
                <a:solidFill>
                  <a:srgbClr val="FFFFFF"/>
                </a:solidFill>
                <a:latin typeface="Segoe UI" pitchFamily="34" charset="0"/>
                <a:ea typeface="Segoe UI" pitchFamily="34" charset="-122"/>
                <a:cs typeface="Segoe UI" pitchFamily="34" charset="-120"/>
              </a:rPr>
              <a:t>AI agents are moving from code assistants</a:t>
            </a:r>
            <a:endParaRPr lang="en-US" sz="1600" dirty="0"/>
          </a:p>
          <a:p>
            <a:pPr indent="0" marL="0">
              <a:lnSpc>
                <a:spcPct val="120000"/>
              </a:lnSpc>
              <a:buNone/>
            </a:pPr>
            <a:r>
              <a:rPr lang="en-US" sz="1600" b="1" dirty="0">
                <a:solidFill>
                  <a:srgbClr val="FFFFFF"/>
                </a:solidFill>
                <a:latin typeface="Segoe UI" pitchFamily="34" charset="0"/>
                <a:ea typeface="Segoe UI" pitchFamily="34" charset="-122"/>
                <a:cs typeface="Segoe UI" pitchFamily="34" charset="-120"/>
              </a:rPr>
              <a:t>to infrastructure operators</a:t>
            </a:r>
            <a:endParaRPr lang="en-US" sz="1600" dirty="0"/>
          </a:p>
        </p:txBody>
      </p:sp>
      <p:sp>
        <p:nvSpPr>
          <p:cNvPr id="6" name="Text 4"/>
          <p:cNvSpPr/>
          <p:nvPr/>
        </p:nvSpPr>
        <p:spPr>
          <a:xfrm>
            <a:off x="2743200" y="2331720"/>
            <a:ext cx="7315200" cy="365760"/>
          </a:xfrm>
          <a:prstGeom prst="rect">
            <a:avLst/>
          </a:prstGeom>
          <a:noFill/>
          <a:ln/>
        </p:spPr>
        <p:txBody>
          <a:bodyPr wrap="square" rtlCol="0" anchor="ctr"/>
          <a:lstStyle/>
          <a:p>
            <a:pPr indent="0" marL="0">
              <a:buNone/>
            </a:pPr>
            <a:r>
              <a:rPr lang="en-US" sz="1100" dirty="0">
                <a:solidFill>
                  <a:srgbClr val="52525B"/>
                </a:solidFill>
                <a:latin typeface="Segoe UI" pitchFamily="34" charset="0"/>
                <a:ea typeface="Segoe UI" pitchFamily="34" charset="-122"/>
                <a:cs typeface="Segoe UI" pitchFamily="34" charset="-120"/>
              </a:rPr>
              <a:t>This isn't future speculation — it's happening now.</a:t>
            </a:r>
            <a:endParaRPr lang="en-US" sz="1100" dirty="0"/>
          </a:p>
        </p:txBody>
      </p:sp>
      <p:sp>
        <p:nvSpPr>
          <p:cNvPr id="7" name="Text 5"/>
          <p:cNvSpPr/>
          <p:nvPr/>
        </p:nvSpPr>
        <p:spPr>
          <a:xfrm>
            <a:off x="1828800" y="3108960"/>
            <a:ext cx="731520" cy="822960"/>
          </a:xfrm>
          <a:prstGeom prst="rect">
            <a:avLst/>
          </a:prstGeom>
          <a:noFill/>
          <a:ln/>
        </p:spPr>
        <p:txBody>
          <a:bodyPr wrap="square" rtlCol="0" anchor="t"/>
          <a:lstStyle/>
          <a:p>
            <a:pPr indent="0" marL="0">
              <a:buNone/>
            </a:pPr>
            <a:r>
              <a:rPr lang="en-US" sz="3600" b="1" dirty="0">
                <a:solidFill>
                  <a:srgbClr val="50A0E6"/>
                </a:solidFill>
                <a:latin typeface="Segoe UI" pitchFamily="34" charset="0"/>
                <a:ea typeface="Segoe UI" pitchFamily="34" charset="-122"/>
                <a:cs typeface="Segoe UI" pitchFamily="34" charset="-120"/>
              </a:rPr>
              <a:t>2</a:t>
            </a:r>
            <a:endParaRPr lang="en-US" sz="3600" dirty="0"/>
          </a:p>
        </p:txBody>
      </p:sp>
      <p:sp>
        <p:nvSpPr>
          <p:cNvPr id="8" name="Text 6"/>
          <p:cNvSpPr/>
          <p:nvPr/>
        </p:nvSpPr>
        <p:spPr>
          <a:xfrm>
            <a:off x="2743200" y="3108960"/>
            <a:ext cx="7315200" cy="731520"/>
          </a:xfrm>
          <a:prstGeom prst="rect">
            <a:avLst/>
          </a:prstGeom>
          <a:noFill/>
          <a:ln/>
        </p:spPr>
        <p:txBody>
          <a:bodyPr wrap="square" rtlCol="0" anchor="t"/>
          <a:lstStyle/>
          <a:p>
            <a:pPr indent="0" marL="0">
              <a:lnSpc>
                <a:spcPct val="120000"/>
              </a:lnSpc>
              <a:buNone/>
            </a:pPr>
            <a:r>
              <a:rPr lang="en-US" sz="1600" b="1" dirty="0">
                <a:solidFill>
                  <a:srgbClr val="FFFFFF"/>
                </a:solidFill>
                <a:latin typeface="Segoe UI" pitchFamily="34" charset="0"/>
                <a:ea typeface="Segoe UI" pitchFamily="34" charset="-122"/>
                <a:cs typeface="Segoe UI" pitchFamily="34" charset="-120"/>
              </a:rPr>
              <a:t>Azure is the platform that makes agentic</a:t>
            </a:r>
            <a:endParaRPr lang="en-US" sz="1600" dirty="0"/>
          </a:p>
          <a:p>
            <a:pPr indent="0" marL="0">
              <a:lnSpc>
                <a:spcPct val="120000"/>
              </a:lnSpc>
              <a:buNone/>
            </a:pPr>
            <a:r>
              <a:rPr lang="en-US" sz="1600" b="1" dirty="0">
                <a:solidFill>
                  <a:srgbClr val="FFFFFF"/>
                </a:solidFill>
                <a:latin typeface="Segoe UI" pitchFamily="34" charset="0"/>
                <a:ea typeface="Segoe UI" pitchFamily="34" charset="-122"/>
                <a:cs typeface="Segoe UI" pitchFamily="34" charset="-120"/>
              </a:rPr>
              <a:t>operations safe and powerful</a:t>
            </a:r>
            <a:endParaRPr lang="en-US" sz="1600" dirty="0"/>
          </a:p>
        </p:txBody>
      </p:sp>
      <p:sp>
        <p:nvSpPr>
          <p:cNvPr id="9" name="Text 7"/>
          <p:cNvSpPr/>
          <p:nvPr/>
        </p:nvSpPr>
        <p:spPr>
          <a:xfrm>
            <a:off x="2743200" y="3886200"/>
            <a:ext cx="7315200" cy="365760"/>
          </a:xfrm>
          <a:prstGeom prst="rect">
            <a:avLst/>
          </a:prstGeom>
          <a:noFill/>
          <a:ln/>
        </p:spPr>
        <p:txBody>
          <a:bodyPr wrap="square" rtlCol="0" anchor="ctr"/>
          <a:lstStyle/>
          <a:p>
            <a:pPr indent="0" marL="0">
              <a:buNone/>
            </a:pPr>
            <a:r>
              <a:rPr lang="en-US" sz="1100" dirty="0">
                <a:solidFill>
                  <a:srgbClr val="52525B"/>
                </a:solidFill>
                <a:latin typeface="Segoe UI" pitchFamily="34" charset="0"/>
                <a:ea typeface="Segoe UI" pitchFamily="34" charset="-122"/>
                <a:cs typeface="Segoe UI" pitchFamily="34" charset="-120"/>
              </a:rPr>
              <a:t>Identity, Policy, Cost Management, Monitoring — the full stack.</a:t>
            </a:r>
            <a:endParaRPr lang="en-US" sz="1100" dirty="0"/>
          </a:p>
        </p:txBody>
      </p:sp>
      <p:sp>
        <p:nvSpPr>
          <p:cNvPr id="10" name="Text 8"/>
          <p:cNvSpPr/>
          <p:nvPr/>
        </p:nvSpPr>
        <p:spPr>
          <a:xfrm>
            <a:off x="1828800" y="4663440"/>
            <a:ext cx="731520" cy="822960"/>
          </a:xfrm>
          <a:prstGeom prst="rect">
            <a:avLst/>
          </a:prstGeom>
          <a:noFill/>
          <a:ln/>
        </p:spPr>
        <p:txBody>
          <a:bodyPr wrap="square" rtlCol="0" anchor="t"/>
          <a:lstStyle/>
          <a:p>
            <a:pPr indent="0" marL="0">
              <a:buNone/>
            </a:pPr>
            <a:r>
              <a:rPr lang="en-US" sz="3600" b="1" dirty="0">
                <a:solidFill>
                  <a:srgbClr val="50A0E6"/>
                </a:solidFill>
                <a:latin typeface="Segoe UI" pitchFamily="34" charset="0"/>
                <a:ea typeface="Segoe UI" pitchFamily="34" charset="-122"/>
                <a:cs typeface="Segoe UI" pitchFamily="34" charset="-120"/>
              </a:rPr>
              <a:t>3</a:t>
            </a:r>
            <a:endParaRPr lang="en-US" sz="3600" dirty="0"/>
          </a:p>
        </p:txBody>
      </p:sp>
      <p:sp>
        <p:nvSpPr>
          <p:cNvPr id="11" name="Text 9"/>
          <p:cNvSpPr/>
          <p:nvPr/>
        </p:nvSpPr>
        <p:spPr>
          <a:xfrm>
            <a:off x="2743200" y="4663440"/>
            <a:ext cx="7315200" cy="731520"/>
          </a:xfrm>
          <a:prstGeom prst="rect">
            <a:avLst/>
          </a:prstGeom>
          <a:noFill/>
          <a:ln/>
        </p:spPr>
        <p:txBody>
          <a:bodyPr wrap="square" rtlCol="0" anchor="t"/>
          <a:lstStyle/>
          <a:p>
            <a:pPr indent="0" marL="0">
              <a:lnSpc>
                <a:spcPct val="120000"/>
              </a:lnSpc>
              <a:buNone/>
            </a:pPr>
            <a:r>
              <a:rPr lang="en-US" sz="1600" b="1" dirty="0">
                <a:solidFill>
                  <a:srgbClr val="FFFFFF"/>
                </a:solidFill>
                <a:latin typeface="Segoe UI" pitchFamily="34" charset="0"/>
                <a:ea typeface="Segoe UI" pitchFamily="34" charset="-122"/>
                <a:cs typeface="Segoe UI" pitchFamily="34" charset="-120"/>
              </a:rPr>
              <a:t>Your customers will bring their own agents.</a:t>
            </a:r>
            <a:endParaRPr lang="en-US" sz="1600" dirty="0"/>
          </a:p>
          <a:p>
            <a:pPr indent="0" marL="0">
              <a:lnSpc>
                <a:spcPct val="120000"/>
              </a:lnSpc>
              <a:buNone/>
            </a:pPr>
            <a:r>
              <a:rPr lang="en-US" sz="1600" b="1" dirty="0">
                <a:solidFill>
                  <a:srgbClr val="FFFFFF"/>
                </a:solidFill>
                <a:latin typeface="Segoe UI" pitchFamily="34" charset="0"/>
                <a:ea typeface="Segoe UI" pitchFamily="34" charset="-122"/>
                <a:cs typeface="Segoe UI" pitchFamily="34" charset="-120"/>
              </a:rPr>
              <a:t>Help them do it right.</a:t>
            </a:r>
            <a:endParaRPr lang="en-US" sz="1600" dirty="0"/>
          </a:p>
        </p:txBody>
      </p:sp>
      <p:sp>
        <p:nvSpPr>
          <p:cNvPr id="12" name="Text 10"/>
          <p:cNvSpPr/>
          <p:nvPr/>
        </p:nvSpPr>
        <p:spPr>
          <a:xfrm>
            <a:off x="2743200" y="5440680"/>
            <a:ext cx="7315200" cy="365760"/>
          </a:xfrm>
          <a:prstGeom prst="rect">
            <a:avLst/>
          </a:prstGeom>
          <a:noFill/>
          <a:ln/>
        </p:spPr>
        <p:txBody>
          <a:bodyPr wrap="square" rtlCol="0" anchor="ctr"/>
          <a:lstStyle/>
          <a:p>
            <a:pPr indent="0" marL="0">
              <a:buNone/>
            </a:pPr>
            <a:r>
              <a:rPr lang="en-US" sz="1100" dirty="0">
                <a:solidFill>
                  <a:srgbClr val="52525B"/>
                </a:solidFill>
                <a:latin typeface="Segoe UI" pitchFamily="34" charset="0"/>
                <a:ea typeface="Segoe UI" pitchFamily="34" charset="-122"/>
                <a:cs typeface="Segoe UI" pitchFamily="34" charset="-120"/>
              </a:rPr>
              <a:t>The agent doesn't matter. The platform does.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274320"/>
            <a:ext cx="12192000" cy="320040"/>
          </a:xfrm>
          <a:prstGeom prst="rect">
            <a:avLst/>
          </a:prstGeom>
          <a:noFill/>
          <a:ln/>
        </p:spPr>
        <p:txBody>
          <a:bodyPr wrap="square" rtlCol="0" anchor="ctr"/>
          <a:lstStyle/>
          <a:p>
            <a:pPr algn="ctr" indent="0" marL="0">
              <a:buNone/>
            </a:pPr>
            <a:r>
              <a:rPr lang="en-US" sz="1100" b="1" dirty="0">
                <a:solidFill>
                  <a:srgbClr val="50A0E6"/>
                </a:solidFill>
                <a:latin typeface="Segoe UI" pitchFamily="34" charset="0"/>
                <a:ea typeface="Segoe UI" pitchFamily="34" charset="-122"/>
                <a:cs typeface="Segoe UI" pitchFamily="34" charset="-120"/>
              </a:rPr>
              <a:t>Where to go from here</a:t>
            </a:r>
            <a:endParaRPr lang="en-US" sz="1100" dirty="0"/>
          </a:p>
        </p:txBody>
      </p:sp>
      <p:sp>
        <p:nvSpPr>
          <p:cNvPr id="3" name="Text 1"/>
          <p:cNvSpPr/>
          <p:nvPr/>
        </p:nvSpPr>
        <p:spPr>
          <a:xfrm>
            <a:off x="0" y="640080"/>
            <a:ext cx="12192000" cy="640080"/>
          </a:xfrm>
          <a:prstGeom prst="rect">
            <a:avLst/>
          </a:prstGeom>
          <a:noFill/>
          <a:ln/>
        </p:spPr>
        <p:txBody>
          <a:bodyPr wrap="square" rtlCol="0" anchor="ctr"/>
          <a:lstStyle/>
          <a:p>
            <a:pPr algn="ctr" indent="0" marL="0">
              <a:buNone/>
            </a:pPr>
            <a:r>
              <a:rPr lang="en-US" sz="3000" b="1" dirty="0">
                <a:solidFill>
                  <a:srgbClr val="FFFFFF"/>
                </a:solidFill>
                <a:latin typeface="Segoe UI" pitchFamily="34" charset="0"/>
                <a:ea typeface="Segoe UI" pitchFamily="34" charset="-122"/>
                <a:cs typeface="Segoe UI" pitchFamily="34" charset="-120"/>
              </a:rPr>
              <a:t>Resources</a:t>
            </a:r>
            <a:endParaRPr lang="en-US" sz="3000" dirty="0"/>
          </a:p>
        </p:txBody>
      </p:sp>
      <p:sp>
        <p:nvSpPr>
          <p:cNvPr id="4" name="Text 2"/>
          <p:cNvSpPr/>
          <p:nvPr/>
        </p:nvSpPr>
        <p:spPr>
          <a:xfrm>
            <a:off x="1371600" y="1463040"/>
            <a:ext cx="548640" cy="45720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5" name="Text 3"/>
          <p:cNvSpPr/>
          <p:nvPr/>
        </p:nvSpPr>
        <p:spPr>
          <a:xfrm>
            <a:off x="2011680" y="1463040"/>
            <a:ext cx="8229600" cy="365760"/>
          </a:xfrm>
          <a:prstGeom prst="rect">
            <a:avLst/>
          </a:prstGeom>
          <a:noFill/>
          <a:ln/>
        </p:spPr>
        <p:txBody>
          <a:bodyPr wrap="square" rtlCol="0" anchor="ctr"/>
          <a:lstStyle/>
          <a:p>
            <a:pPr indent="0" marL="0">
              <a:buNone/>
            </a:pPr>
            <a:r>
              <a:rPr lang="en-US" sz="1400" dirty="0">
                <a:solidFill>
                  <a:srgbClr val="50A0E6"/>
                </a:solidFill>
                <a:latin typeface="Segoe UI" pitchFamily="34" charset="0"/>
                <a:ea typeface="Segoe UI" pitchFamily="34" charset="-122"/>
                <a:cs typeface="Segoe UI" pitchFamily="34" charset="-120"/>
              </a:rPr>
              <a:t>openclaw.ai / github.com/openclaw/openclaw</a:t>
            </a:r>
            <a:endParaRPr lang="en-US" sz="1400" dirty="0"/>
          </a:p>
        </p:txBody>
      </p:sp>
      <p:sp>
        <p:nvSpPr>
          <p:cNvPr id="6" name="Text 4"/>
          <p:cNvSpPr/>
          <p:nvPr/>
        </p:nvSpPr>
        <p:spPr>
          <a:xfrm>
            <a:off x="2011680" y="1810512"/>
            <a:ext cx="8229600" cy="320040"/>
          </a:xfrm>
          <a:prstGeom prst="rect">
            <a:avLst/>
          </a:prstGeom>
          <a:noFill/>
          <a:ln/>
        </p:spPr>
        <p:txBody>
          <a:bodyPr wrap="square" rtlCol="0" anchor="ctr"/>
          <a:lstStyle/>
          <a:p>
            <a:pPr indent="0" marL="0">
              <a:buNone/>
            </a:pPr>
            <a:r>
              <a:rPr lang="en-US" sz="1100" dirty="0">
                <a:solidFill>
                  <a:srgbClr val="52525B"/>
                </a:solidFill>
                <a:latin typeface="Segoe UI" pitchFamily="34" charset="0"/>
                <a:ea typeface="Segoe UI" pitchFamily="34" charset="-122"/>
                <a:cs typeface="Segoe UI" pitchFamily="34" charset="-120"/>
              </a:rPr>
              <a:t>Open-source agent framework — try it yourself</a:t>
            </a:r>
            <a:endParaRPr lang="en-US" sz="1100" dirty="0"/>
          </a:p>
        </p:txBody>
      </p:sp>
      <p:sp>
        <p:nvSpPr>
          <p:cNvPr id="7" name="Text 5"/>
          <p:cNvSpPr/>
          <p:nvPr/>
        </p:nvSpPr>
        <p:spPr>
          <a:xfrm>
            <a:off x="1371600" y="2331720"/>
            <a:ext cx="548640" cy="45720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8" name="Text 6"/>
          <p:cNvSpPr/>
          <p:nvPr/>
        </p:nvSpPr>
        <p:spPr>
          <a:xfrm>
            <a:off x="2011680" y="2331720"/>
            <a:ext cx="8229600" cy="365760"/>
          </a:xfrm>
          <a:prstGeom prst="rect">
            <a:avLst/>
          </a:prstGeom>
          <a:noFill/>
          <a:ln/>
        </p:spPr>
        <p:txBody>
          <a:bodyPr wrap="square" rtlCol="0" anchor="ctr"/>
          <a:lstStyle/>
          <a:p>
            <a:pPr indent="0" marL="0">
              <a:buNone/>
            </a:pPr>
            <a:r>
              <a:rPr lang="en-US" sz="1400" dirty="0">
                <a:solidFill>
                  <a:srgbClr val="50A0E6"/>
                </a:solidFill>
                <a:latin typeface="Segoe UI" pitchFamily="34" charset="0"/>
                <a:ea typeface="Segoe UI" pitchFamily="34" charset="-122"/>
                <a:cs typeface="Segoe UI" pitchFamily="34" charset="-120"/>
              </a:rPr>
              <a:t>Addy Osmani — "The Code Agent Orchestra"</a:t>
            </a:r>
            <a:endParaRPr lang="en-US" sz="1400" dirty="0"/>
          </a:p>
        </p:txBody>
      </p:sp>
      <p:sp>
        <p:nvSpPr>
          <p:cNvPr id="9" name="Text 7"/>
          <p:cNvSpPr/>
          <p:nvPr/>
        </p:nvSpPr>
        <p:spPr>
          <a:xfrm>
            <a:off x="2011680" y="2679192"/>
            <a:ext cx="8229600" cy="320040"/>
          </a:xfrm>
          <a:prstGeom prst="rect">
            <a:avLst/>
          </a:prstGeom>
          <a:noFill/>
          <a:ln/>
        </p:spPr>
        <p:txBody>
          <a:bodyPr wrap="square" rtlCol="0" anchor="ctr"/>
          <a:lstStyle/>
          <a:p>
            <a:pPr indent="0" marL="0">
              <a:buNone/>
            </a:pPr>
            <a:r>
              <a:rPr lang="en-US" sz="1100" dirty="0">
                <a:solidFill>
                  <a:srgbClr val="52525B"/>
                </a:solidFill>
                <a:latin typeface="Segoe UI" pitchFamily="34" charset="0"/>
                <a:ea typeface="Segoe UI" pitchFamily="34" charset="-122"/>
                <a:cs typeface="Segoe UI" pitchFamily="34" charset="-120"/>
              </a:rPr>
              <a:t>The conductor → orchestrator framework</a:t>
            </a:r>
            <a:endParaRPr lang="en-US" sz="1100" dirty="0"/>
          </a:p>
        </p:txBody>
      </p:sp>
      <p:sp>
        <p:nvSpPr>
          <p:cNvPr id="10" name="Text 8"/>
          <p:cNvSpPr/>
          <p:nvPr/>
        </p:nvSpPr>
        <p:spPr>
          <a:xfrm>
            <a:off x="1371600" y="3200400"/>
            <a:ext cx="548640" cy="45720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1" name="Text 9"/>
          <p:cNvSpPr/>
          <p:nvPr/>
        </p:nvSpPr>
        <p:spPr>
          <a:xfrm>
            <a:off x="2011680" y="3200400"/>
            <a:ext cx="8229600" cy="365760"/>
          </a:xfrm>
          <a:prstGeom prst="rect">
            <a:avLst/>
          </a:prstGeom>
          <a:noFill/>
          <a:ln/>
        </p:spPr>
        <p:txBody>
          <a:bodyPr wrap="square" rtlCol="0" anchor="ctr"/>
          <a:lstStyle/>
          <a:p>
            <a:pPr indent="0" marL="0">
              <a:buNone/>
            </a:pPr>
            <a:r>
              <a:rPr lang="en-US" sz="1400" dirty="0">
                <a:solidFill>
                  <a:srgbClr val="50A0E6"/>
                </a:solidFill>
                <a:latin typeface="Segoe UI" pitchFamily="34" charset="0"/>
                <a:ea typeface="Segoe UI" pitchFamily="34" charset="-122"/>
                <a:cs typeface="Segoe UI" pitchFamily="34" charset="-120"/>
              </a:rPr>
              <a:t>Azure AI Agent Service</a:t>
            </a:r>
            <a:endParaRPr lang="en-US" sz="1400" dirty="0"/>
          </a:p>
        </p:txBody>
      </p:sp>
      <p:sp>
        <p:nvSpPr>
          <p:cNvPr id="12" name="Text 10"/>
          <p:cNvSpPr/>
          <p:nvPr/>
        </p:nvSpPr>
        <p:spPr>
          <a:xfrm>
            <a:off x="2011680" y="3547872"/>
            <a:ext cx="8229600" cy="320040"/>
          </a:xfrm>
          <a:prstGeom prst="rect">
            <a:avLst/>
          </a:prstGeom>
          <a:noFill/>
          <a:ln/>
        </p:spPr>
        <p:txBody>
          <a:bodyPr wrap="square" rtlCol="0" anchor="ctr"/>
          <a:lstStyle/>
          <a:p>
            <a:pPr indent="0" marL="0">
              <a:buNone/>
            </a:pPr>
            <a:r>
              <a:rPr lang="en-US" sz="1100" dirty="0">
                <a:solidFill>
                  <a:srgbClr val="52525B"/>
                </a:solidFill>
                <a:latin typeface="Segoe UI" pitchFamily="34" charset="0"/>
                <a:ea typeface="Segoe UI" pitchFamily="34" charset="-122"/>
                <a:cs typeface="Segoe UI" pitchFamily="34" charset="-120"/>
              </a:rPr>
              <a:t>Microsoft's own take on managed AI agents</a:t>
            </a:r>
            <a:endParaRPr lang="en-US" sz="1100" dirty="0"/>
          </a:p>
        </p:txBody>
      </p:sp>
      <p:sp>
        <p:nvSpPr>
          <p:cNvPr id="13" name="Text 11"/>
          <p:cNvSpPr/>
          <p:nvPr/>
        </p:nvSpPr>
        <p:spPr>
          <a:xfrm>
            <a:off x="1371600" y="4069080"/>
            <a:ext cx="548640" cy="45720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4" name="Text 12"/>
          <p:cNvSpPr/>
          <p:nvPr/>
        </p:nvSpPr>
        <p:spPr>
          <a:xfrm>
            <a:off x="2011680" y="4069080"/>
            <a:ext cx="8229600" cy="365760"/>
          </a:xfrm>
          <a:prstGeom prst="rect">
            <a:avLst/>
          </a:prstGeom>
          <a:noFill/>
          <a:ln/>
        </p:spPr>
        <p:txBody>
          <a:bodyPr wrap="square" rtlCol="0" anchor="ctr"/>
          <a:lstStyle/>
          <a:p>
            <a:pPr indent="0" marL="0">
              <a:buNone/>
            </a:pPr>
            <a:r>
              <a:rPr lang="en-US" sz="1400" dirty="0">
                <a:solidFill>
                  <a:srgbClr val="50A0E6"/>
                </a:solidFill>
                <a:latin typeface="Segoe UI" pitchFamily="34" charset="0"/>
                <a:ea typeface="Segoe UI" pitchFamily="34" charset="-122"/>
                <a:cs typeface="Segoe UI" pitchFamily="34" charset="-120"/>
              </a:rPr>
              <a:t>Copilot Studio + Azure integration</a:t>
            </a:r>
            <a:endParaRPr lang="en-US" sz="1400" dirty="0"/>
          </a:p>
        </p:txBody>
      </p:sp>
      <p:sp>
        <p:nvSpPr>
          <p:cNvPr id="15" name="Text 13"/>
          <p:cNvSpPr/>
          <p:nvPr/>
        </p:nvSpPr>
        <p:spPr>
          <a:xfrm>
            <a:off x="2011680" y="4416552"/>
            <a:ext cx="8229600" cy="320040"/>
          </a:xfrm>
          <a:prstGeom prst="rect">
            <a:avLst/>
          </a:prstGeom>
          <a:noFill/>
          <a:ln/>
        </p:spPr>
        <p:txBody>
          <a:bodyPr wrap="square" rtlCol="0" anchor="ctr"/>
          <a:lstStyle/>
          <a:p>
            <a:pPr indent="0" marL="0">
              <a:buNone/>
            </a:pPr>
            <a:r>
              <a:rPr lang="en-US" sz="1100" dirty="0">
                <a:solidFill>
                  <a:srgbClr val="52525B"/>
                </a:solidFill>
                <a:latin typeface="Segoe UI" pitchFamily="34" charset="0"/>
                <a:ea typeface="Segoe UI" pitchFamily="34" charset="-122"/>
                <a:cs typeface="Segoe UI" pitchFamily="34" charset="-120"/>
              </a:rPr>
              <a:t>Build enterprise agents with Microsoft's tooling</a:t>
            </a:r>
            <a:endParaRPr lang="en-US" sz="1100" dirty="0"/>
          </a:p>
        </p:txBody>
      </p:sp>
      <p:sp>
        <p:nvSpPr>
          <p:cNvPr id="16" name="Text 14"/>
          <p:cNvSpPr/>
          <p:nvPr/>
        </p:nvSpPr>
        <p:spPr>
          <a:xfrm>
            <a:off x="1371600" y="4937760"/>
            <a:ext cx="548640" cy="45720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7" name="Text 15"/>
          <p:cNvSpPr/>
          <p:nvPr/>
        </p:nvSpPr>
        <p:spPr>
          <a:xfrm>
            <a:off x="2011680" y="4937760"/>
            <a:ext cx="8229600" cy="365760"/>
          </a:xfrm>
          <a:prstGeom prst="rect">
            <a:avLst/>
          </a:prstGeom>
          <a:noFill/>
          <a:ln/>
        </p:spPr>
        <p:txBody>
          <a:bodyPr wrap="square" rtlCol="0" anchor="ctr"/>
          <a:lstStyle/>
          <a:p>
            <a:pPr indent="0" marL="0">
              <a:buNone/>
            </a:pPr>
            <a:r>
              <a:rPr lang="en-US" sz="1400" dirty="0">
                <a:solidFill>
                  <a:srgbClr val="50A0E6"/>
                </a:solidFill>
                <a:latin typeface="Segoe UI" pitchFamily="34" charset="0"/>
                <a:ea typeface="Segoe UI" pitchFamily="34" charset="-122"/>
                <a:cs typeface="Segoe UI" pitchFamily="34" charset="-120"/>
              </a:rPr>
              <a:t>This deck + demo showcase</a:t>
            </a:r>
            <a:endParaRPr lang="en-US" sz="1400" dirty="0"/>
          </a:p>
        </p:txBody>
      </p:sp>
      <p:sp>
        <p:nvSpPr>
          <p:cNvPr id="18" name="Text 16"/>
          <p:cNvSpPr/>
          <p:nvPr/>
        </p:nvSpPr>
        <p:spPr>
          <a:xfrm>
            <a:off x="2011680" y="5285232"/>
            <a:ext cx="8229600" cy="320040"/>
          </a:xfrm>
          <a:prstGeom prst="rect">
            <a:avLst/>
          </a:prstGeom>
          <a:noFill/>
          <a:ln/>
        </p:spPr>
        <p:txBody>
          <a:bodyPr wrap="square" rtlCol="0" anchor="ctr"/>
          <a:lstStyle/>
          <a:p>
            <a:pPr indent="0" marL="0">
              <a:buNone/>
            </a:pPr>
            <a:r>
              <a:rPr lang="en-US" sz="1100" dirty="0">
                <a:solidFill>
                  <a:srgbClr val="52525B"/>
                </a:solidFill>
                <a:latin typeface="Segoe UI" pitchFamily="34" charset="0"/>
                <a:ea typeface="Segoe UI" pitchFamily="34" charset="-122"/>
                <a:cs typeface="Segoe UI" pitchFamily="34" charset="-120"/>
              </a:rPr>
              <a:t>Deployed on Azure Static Web Apps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1371600" y="1097280"/>
            <a:ext cx="9445752" cy="2743200"/>
          </a:xfrm>
          <a:prstGeom prst="rect">
            <a:avLst/>
          </a:prstGeom>
          <a:noFill/>
          <a:ln/>
        </p:spPr>
        <p:txBody>
          <a:bodyPr wrap="square" rtlCol="0" anchor="ctr"/>
          <a:lstStyle/>
          <a:p>
            <a:pPr algn="ctr" indent="0" marL="0">
              <a:lnSpc>
                <a:spcPct val="130000"/>
              </a:lnSpc>
              <a:buNone/>
            </a:pPr>
            <a:r>
              <a:rPr lang="en-US" sz="2200" i="1" dirty="0">
                <a:solidFill>
                  <a:srgbClr val="D4D4D8"/>
                </a:solidFill>
                <a:latin typeface="Segoe UI" pitchFamily="34" charset="0"/>
                <a:ea typeface="Segoe UI" pitchFamily="34" charset="-122"/>
                <a:cs typeface="Segoe UI" pitchFamily="34" charset="-120"/>
              </a:rPr>
              <a:t>"AI agents are moving from code assistants
to infrastructure operators.
</a:t>
            </a:r>
            <a:pPr algn="ctr" indent="0" marL="0">
              <a:lnSpc>
                <a:spcPct val="130000"/>
              </a:lnSpc>
              <a:buNone/>
            </a:pPr>
            <a:r>
              <a:rPr lang="en-US" sz="2200" i="1" dirty="0">
                <a:solidFill>
                  <a:srgbClr val="50A0E6"/>
                </a:solidFill>
                <a:latin typeface="Segoe UI" pitchFamily="34" charset="0"/>
                <a:ea typeface="Segoe UI" pitchFamily="34" charset="-122"/>
                <a:cs typeface="Segoe UI" pitchFamily="34" charset="-120"/>
              </a:rPr>
              <a:t>Azure is the platform that makes this</a:t>
            </a:r>
            <a:endParaRPr lang="en-US" sz="2200" dirty="0"/>
          </a:p>
          <a:p>
            <a:pPr algn="ctr" indent="0" marL="0">
              <a:lnSpc>
                <a:spcPct val="130000"/>
              </a:lnSpc>
              <a:buNone/>
            </a:pPr>
            <a:r>
              <a:rPr lang="en-US" sz="2200" i="1" dirty="0">
                <a:solidFill>
                  <a:srgbClr val="50A0E6"/>
                </a:solidFill>
                <a:latin typeface="Segoe UI" pitchFamily="34" charset="0"/>
                <a:ea typeface="Segoe UI" pitchFamily="34" charset="-122"/>
                <a:cs typeface="Segoe UI" pitchFamily="34" charset="-120"/>
              </a:rPr>
              <a:t>safe and powerful."</a:t>
            </a:r>
            <a:endParaRPr lang="en-US" sz="2200" dirty="0"/>
          </a:p>
        </p:txBody>
      </p:sp>
      <p:sp>
        <p:nvSpPr>
          <p:cNvPr id="3" name="Text 1"/>
          <p:cNvSpPr/>
          <p:nvPr/>
        </p:nvSpPr>
        <p:spPr>
          <a:xfrm>
            <a:off x="0" y="4114800"/>
            <a:ext cx="12192000" cy="731520"/>
          </a:xfrm>
          <a:prstGeom prst="rect">
            <a:avLst/>
          </a:prstGeom>
          <a:noFill/>
          <a:ln/>
        </p:spPr>
        <p:txBody>
          <a:bodyPr wrap="square" rtlCol="0" anchor="ctr"/>
          <a:lstStyle/>
          <a:p>
            <a:pPr algn="ctr" indent="0" marL="0">
              <a:lnSpc>
                <a:spcPct val="140000"/>
              </a:lnSpc>
              <a:buNone/>
            </a:pPr>
            <a:r>
              <a:rPr lang="en-US" sz="1400" dirty="0">
                <a:solidFill>
                  <a:srgbClr val="71717A"/>
                </a:solidFill>
                <a:latin typeface="Segoe UI" pitchFamily="34" charset="0"/>
                <a:ea typeface="Segoe UI" pitchFamily="34" charset="-122"/>
                <a:cs typeface="Segoe UI" pitchFamily="34" charset="-120"/>
              </a:rPr>
              <a:t>Your customers will bring their own agents.</a:t>
            </a:r>
            <a:endParaRPr lang="en-US" sz="1400" dirty="0"/>
          </a:p>
          <a:p>
            <a:pPr algn="ctr" indent="0" marL="0">
              <a:lnSpc>
                <a:spcPct val="140000"/>
              </a:lnSpc>
              <a:buNone/>
            </a:pPr>
            <a:r>
              <a:rPr lang="en-US" sz="1400" dirty="0">
                <a:solidFill>
                  <a:srgbClr val="71717A"/>
                </a:solidFill>
                <a:latin typeface="Segoe UI" pitchFamily="34" charset="0"/>
                <a:ea typeface="Segoe UI" pitchFamily="34" charset="-122"/>
                <a:cs typeface="Segoe UI" pitchFamily="34" charset="-120"/>
              </a:rPr>
              <a:t>Be ready.</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1097280"/>
            <a:ext cx="12192000" cy="1371600"/>
          </a:xfrm>
          <a:prstGeom prst="rect">
            <a:avLst/>
          </a:prstGeom>
          <a:noFill/>
          <a:ln/>
        </p:spPr>
        <p:txBody>
          <a:bodyPr wrap="square" rtlCol="0" anchor="ctr"/>
          <a:lstStyle/>
          <a:p>
            <a:pPr algn="ctr" indent="0" marL="0">
              <a:lnSpc>
                <a:spcPct val="120000"/>
              </a:lnSpc>
              <a:buNone/>
            </a:pPr>
            <a:r>
              <a:rPr lang="en-US" sz="3000" b="1" dirty="0">
                <a:solidFill>
                  <a:srgbClr val="FFFFFF"/>
                </a:solidFill>
                <a:latin typeface="Segoe UI" pitchFamily="34" charset="0"/>
                <a:ea typeface="Segoe UI" pitchFamily="34" charset="-122"/>
                <a:cs typeface="Segoe UI" pitchFamily="34" charset="-120"/>
              </a:rPr>
              <a:t>"Every meeting should end with
</a:t>
            </a:r>
            <a:pPr algn="ctr" indent="0" marL="0">
              <a:lnSpc>
                <a:spcPct val="120000"/>
              </a:lnSpc>
              <a:buNone/>
            </a:pPr>
            <a:r>
              <a:rPr lang="en-US" sz="3000" b="1" dirty="0">
                <a:solidFill>
                  <a:srgbClr val="50A0E6"/>
                </a:solidFill>
                <a:latin typeface="Segoe UI" pitchFamily="34" charset="0"/>
                <a:ea typeface="Segoe UI" pitchFamily="34" charset="-122"/>
                <a:cs typeface="Segoe UI" pitchFamily="34" charset="-120"/>
              </a:rPr>
              <a:t>something running."</a:t>
            </a:r>
            <a:endParaRPr lang="en-US" sz="3000" dirty="0"/>
          </a:p>
        </p:txBody>
      </p:sp>
      <p:sp>
        <p:nvSpPr>
          <p:cNvPr id="3" name="Text 1"/>
          <p:cNvSpPr/>
          <p:nvPr/>
        </p:nvSpPr>
        <p:spPr>
          <a:xfrm>
            <a:off x="0" y="2926080"/>
            <a:ext cx="12192000" cy="1371600"/>
          </a:xfrm>
          <a:prstGeom prst="rect">
            <a:avLst/>
          </a:prstGeom>
          <a:noFill/>
          <a:ln/>
        </p:spPr>
        <p:txBody>
          <a:bodyPr wrap="square" rtlCol="0" anchor="ctr"/>
          <a:lstStyle/>
          <a:p>
            <a:pPr algn="ctr" indent="0" marL="0">
              <a:lnSpc>
                <a:spcPct val="140000"/>
              </a:lnSpc>
              <a:buNone/>
            </a:pPr>
            <a:r>
              <a:rPr lang="en-US" sz="1600" dirty="0">
                <a:solidFill>
                  <a:srgbClr val="71717A"/>
                </a:solidFill>
                <a:latin typeface="Segoe UI" pitchFamily="34" charset="0"/>
                <a:ea typeface="Segoe UI" pitchFamily="34" charset="-122"/>
                <a:cs typeface="Segoe UI" pitchFamily="34" charset="-120"/>
              </a:rPr>
              <a:t>The agent doesn't matter.</a:t>
            </a:r>
            <a:endParaRPr lang="en-US" sz="1600" dirty="0"/>
          </a:p>
          <a:p>
            <a:pPr algn="ctr" indent="0" marL="0">
              <a:lnSpc>
                <a:spcPct val="140000"/>
              </a:lnSpc>
              <a:buNone/>
            </a:pPr>
            <a:r>
              <a:rPr lang="en-US" sz="1600" dirty="0">
                <a:solidFill>
                  <a:srgbClr val="71717A"/>
                </a:solidFill>
                <a:latin typeface="Segoe UI" pitchFamily="34" charset="0"/>
                <a:ea typeface="Segoe UI" pitchFamily="34" charset="-122"/>
                <a:cs typeface="Segoe UI" pitchFamily="34" charset="-120"/>
              </a:rPr>
              <a:t>The platform does.</a:t>
            </a:r>
            <a:endParaRPr lang="en-US" sz="1600" dirty="0"/>
          </a:p>
          <a:p>
            <a:pPr algn="ctr" indent="0" marL="0">
              <a:lnSpc>
                <a:spcPct val="140000"/>
              </a:lnSpc>
              <a:buNone/>
            </a:pPr>
            <a:r>
              <a:rPr lang="en-US" sz="1600" dirty="0">
                <a:solidFill>
                  <a:srgbClr val="71717A"/>
                </a:solidFill>
                <a:latin typeface="Segoe UI" pitchFamily="34" charset="0"/>
                <a:ea typeface="Segoe UI" pitchFamily="34" charset="-122"/>
                <a:cs typeface="Segoe UI" pitchFamily="34" charset="-120"/>
              </a:rPr>
              <a:t>And that platform is </a:t>
            </a:r>
            <a:endParaRPr lang="en-US" sz="1600" dirty="0"/>
          </a:p>
          <a:p>
            <a:pPr algn="ctr" indent="0" marL="0">
              <a:lnSpc>
                <a:spcPct val="140000"/>
              </a:lnSpc>
              <a:buNone/>
            </a:pPr>
            <a:r>
              <a:rPr lang="en-US" sz="1600" dirty="0">
                <a:solidFill>
                  <a:srgbClr val="50A0E6"/>
                </a:solidFill>
                <a:latin typeface="Segoe UI" pitchFamily="34" charset="0"/>
                <a:ea typeface="Segoe UI" pitchFamily="34" charset="-122"/>
                <a:cs typeface="Segoe UI" pitchFamily="34" charset="-120"/>
              </a:rPr>
              <a:t>Azure</a:t>
            </a:r>
            <a:pPr algn="ctr" indent="0" marL="0">
              <a:lnSpc>
                <a:spcPct val="140000"/>
              </a:lnSpc>
              <a:buNone/>
            </a:pPr>
            <a:r>
              <a:rPr lang="en-US" sz="1600" dirty="0">
                <a:solidFill>
                  <a:srgbClr val="71717A"/>
                </a:solidFill>
                <a:latin typeface="Segoe UI" pitchFamily="34" charset="0"/>
                <a:ea typeface="Segoe UI" pitchFamily="34" charset="-122"/>
                <a:cs typeface="Segoe UI" pitchFamily="34" charset="-120"/>
              </a:rPr>
              <a:t>.</a:t>
            </a:r>
            <a:endParaRPr lang="en-US" sz="1600" dirty="0"/>
          </a:p>
        </p:txBody>
      </p:sp>
      <p:sp>
        <p:nvSpPr>
          <p:cNvPr id="4" name="Text 2"/>
          <p:cNvSpPr/>
          <p:nvPr/>
        </p:nvSpPr>
        <p:spPr>
          <a:xfrm>
            <a:off x="0" y="5029200"/>
            <a:ext cx="12192000" cy="365760"/>
          </a:xfrm>
          <a:prstGeom prst="rect">
            <a:avLst/>
          </a:prstGeom>
          <a:noFill/>
          <a:ln/>
        </p:spPr>
        <p:txBody>
          <a:bodyPr wrap="square" rtlCol="0" anchor="ctr"/>
          <a:lstStyle/>
          <a:p>
            <a:pPr algn="ctr" indent="0" marL="0">
              <a:buNone/>
            </a:pPr>
            <a:r>
              <a:rPr lang="en-US" sz="1100" dirty="0">
                <a:solidFill>
                  <a:srgbClr val="52525B"/>
                </a:solidFill>
                <a:latin typeface="Segoe UI" pitchFamily="34" charset="0"/>
                <a:ea typeface="Segoe UI" pitchFamily="34" charset="-122"/>
                <a:cs typeface="Segoe UI" pitchFamily="34" charset="-120"/>
              </a:rPr>
              <a:t>Raj Balakrishnan · rajba@microsoft.com · aka.ms/helloraj</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0" y="1828800"/>
            <a:ext cx="12192000" cy="1371600"/>
          </a:xfrm>
          <a:prstGeom prst="rect">
            <a:avLst/>
          </a:prstGeom>
          <a:noFill/>
          <a:ln/>
        </p:spPr>
        <p:txBody>
          <a:bodyPr wrap="square" rtlCol="0" anchor="ctr"/>
          <a:lstStyle/>
          <a:p>
            <a:pPr algn="ctr" indent="0" marL="0">
              <a:buNone/>
            </a:pPr>
            <a:r>
              <a:rPr lang="en-US" sz="8000" dirty="0">
                <a:solidFill>
                  <a:srgbClr val="000000"/>
                </a:solidFill>
              </a:rPr>
              <a:t>🎤</a:t>
            </a:r>
            <a:endParaRPr lang="en-US" sz="8000" dirty="0"/>
          </a:p>
        </p:txBody>
      </p:sp>
      <p:sp>
        <p:nvSpPr>
          <p:cNvPr id="3" name="Text 1"/>
          <p:cNvSpPr/>
          <p:nvPr/>
        </p:nvSpPr>
        <p:spPr>
          <a:xfrm>
            <a:off x="0" y="3474720"/>
            <a:ext cx="12192000" cy="731520"/>
          </a:xfrm>
          <a:prstGeom prst="rect">
            <a:avLst/>
          </a:prstGeom>
          <a:noFill/>
          <a:ln/>
        </p:spPr>
        <p:txBody>
          <a:bodyPr wrap="square" rtlCol="0" anchor="ctr"/>
          <a:lstStyle/>
          <a:p>
            <a:pPr algn="ctr" indent="0" marL="0">
              <a:buNone/>
            </a:pPr>
            <a:r>
              <a:rPr lang="en-US" sz="3200" i="1" dirty="0">
                <a:solidFill>
                  <a:srgbClr val="71717A"/>
                </a:solidFill>
                <a:latin typeface="Segoe UI" pitchFamily="34" charset="0"/>
                <a:ea typeface="Segoe UI" pitchFamily="34" charset="-122"/>
                <a:cs typeface="Segoe UI" pitchFamily="34" charset="-120"/>
              </a:rPr>
              <a:t>Questions?</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AI Agents Meet the Cloud</dc:title>
  <dc:subject>AI Agents Meet the Cloud</dc:subject>
  <dc:creator>Raj Balakrishnan</dc:creator>
  <cp:lastModifiedBy>Raj Balakrishnan</cp:lastModifiedBy>
  <cp:revision>1</cp:revision>
  <dcterms:created xsi:type="dcterms:W3CDTF">2026-03-28T07:23:21Z</dcterms:created>
  <dcterms:modified xsi:type="dcterms:W3CDTF">2026-03-28T07:23:21Z</dcterms:modified>
</cp:coreProperties>
</file>